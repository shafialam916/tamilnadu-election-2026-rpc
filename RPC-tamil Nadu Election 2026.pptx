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4" r:id="rId8"/>
    <p:sldId id="266" r:id="rId9"/>
    <p:sldId id="265" r:id="rId10"/>
    <p:sldId id="267" r:id="rId11"/>
    <p:sldId id="268" r:id="rId12"/>
    <p:sldId id="269" r:id="rId13"/>
    <p:sldId id="270" r:id="rId14"/>
    <p:sldId id="271" r:id="rId15"/>
    <p:sldId id="272" r:id="rId16"/>
    <p:sldId id="273" r:id="rId17"/>
    <p:sldId id="274" r:id="rId18"/>
    <p:sldId id="275" r:id="rId19"/>
    <p:sldId id="276" r:id="rId20"/>
    <p:sldId id="278" r:id="rId21"/>
    <p:sldId id="277" r:id="rId22"/>
    <p:sldId id="279" r:id="rId23"/>
    <p:sldId id="28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11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A9363-6E79-D80A-0315-D8319F0BCA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C17776-6085-9ADA-3041-2430194C1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C129536-4F04-27D9-87FD-28EE8F6FCD12}"/>
              </a:ext>
            </a:extLst>
          </p:cNvPr>
          <p:cNvSpPr>
            <a:spLocks noGrp="1"/>
          </p:cNvSpPr>
          <p:nvPr>
            <p:ph type="dt" sz="half" idx="10"/>
          </p:nvPr>
        </p:nvSpPr>
        <p:spPr/>
        <p:txBody>
          <a:bodyPr/>
          <a:lstStyle/>
          <a:p>
            <a:fld id="{1D954147-088D-44B3-8F17-576B28D6698D}" type="datetimeFigureOut">
              <a:rPr lang="en-IN" smtClean="0"/>
              <a:t>04-06-2026</a:t>
            </a:fld>
            <a:endParaRPr lang="en-IN"/>
          </a:p>
        </p:txBody>
      </p:sp>
      <p:sp>
        <p:nvSpPr>
          <p:cNvPr id="5" name="Footer Placeholder 4">
            <a:extLst>
              <a:ext uri="{FF2B5EF4-FFF2-40B4-BE49-F238E27FC236}">
                <a16:creationId xmlns:a16="http://schemas.microsoft.com/office/drawing/2014/main" id="{E748FE05-01D4-FFF9-F5C6-29194D149C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1373C2-42FA-EF74-B7ED-DE27A3D58671}"/>
              </a:ext>
            </a:extLst>
          </p:cNvPr>
          <p:cNvSpPr>
            <a:spLocks noGrp="1"/>
          </p:cNvSpPr>
          <p:nvPr>
            <p:ph type="sldNum" sz="quarter" idx="12"/>
          </p:nvPr>
        </p:nvSpPr>
        <p:spPr/>
        <p:txBody>
          <a:bodyPr/>
          <a:lstStyle/>
          <a:p>
            <a:fld id="{CF6A7754-72E2-46F3-8100-1985D4A15DE4}" type="slidenum">
              <a:rPr lang="en-IN" smtClean="0"/>
              <a:t>‹#›</a:t>
            </a:fld>
            <a:endParaRPr lang="en-IN"/>
          </a:p>
        </p:txBody>
      </p:sp>
    </p:spTree>
    <p:extLst>
      <p:ext uri="{BB962C8B-B14F-4D97-AF65-F5344CB8AC3E}">
        <p14:creationId xmlns:p14="http://schemas.microsoft.com/office/powerpoint/2010/main" val="2031997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3C047-6276-FE33-793F-02DC96A6B3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3DC652-FD21-DAFA-38A5-7534688BCC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B22FBB-6E56-2536-9B05-75E45121E275}"/>
              </a:ext>
            </a:extLst>
          </p:cNvPr>
          <p:cNvSpPr>
            <a:spLocks noGrp="1"/>
          </p:cNvSpPr>
          <p:nvPr>
            <p:ph type="dt" sz="half" idx="10"/>
          </p:nvPr>
        </p:nvSpPr>
        <p:spPr/>
        <p:txBody>
          <a:bodyPr/>
          <a:lstStyle/>
          <a:p>
            <a:fld id="{1D954147-088D-44B3-8F17-576B28D6698D}" type="datetimeFigureOut">
              <a:rPr lang="en-IN" smtClean="0"/>
              <a:t>04-06-2026</a:t>
            </a:fld>
            <a:endParaRPr lang="en-IN"/>
          </a:p>
        </p:txBody>
      </p:sp>
      <p:sp>
        <p:nvSpPr>
          <p:cNvPr id="5" name="Footer Placeholder 4">
            <a:extLst>
              <a:ext uri="{FF2B5EF4-FFF2-40B4-BE49-F238E27FC236}">
                <a16:creationId xmlns:a16="http://schemas.microsoft.com/office/drawing/2014/main" id="{85395381-29CA-D42F-68D0-AA7F332ADE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C75CBD-AD54-1FD3-B2E5-31CD6EADA389}"/>
              </a:ext>
            </a:extLst>
          </p:cNvPr>
          <p:cNvSpPr>
            <a:spLocks noGrp="1"/>
          </p:cNvSpPr>
          <p:nvPr>
            <p:ph type="sldNum" sz="quarter" idx="12"/>
          </p:nvPr>
        </p:nvSpPr>
        <p:spPr/>
        <p:txBody>
          <a:bodyPr/>
          <a:lstStyle/>
          <a:p>
            <a:fld id="{CF6A7754-72E2-46F3-8100-1985D4A15DE4}" type="slidenum">
              <a:rPr lang="en-IN" smtClean="0"/>
              <a:t>‹#›</a:t>
            </a:fld>
            <a:endParaRPr lang="en-IN"/>
          </a:p>
        </p:txBody>
      </p:sp>
    </p:spTree>
    <p:extLst>
      <p:ext uri="{BB962C8B-B14F-4D97-AF65-F5344CB8AC3E}">
        <p14:creationId xmlns:p14="http://schemas.microsoft.com/office/powerpoint/2010/main" val="606323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AFDC0-2BDC-9226-2337-D42D6F5419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3AFB17-C061-0565-797D-0342AA375D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161943-34EA-F737-5193-84AABBA36556}"/>
              </a:ext>
            </a:extLst>
          </p:cNvPr>
          <p:cNvSpPr>
            <a:spLocks noGrp="1"/>
          </p:cNvSpPr>
          <p:nvPr>
            <p:ph type="dt" sz="half" idx="10"/>
          </p:nvPr>
        </p:nvSpPr>
        <p:spPr/>
        <p:txBody>
          <a:bodyPr/>
          <a:lstStyle/>
          <a:p>
            <a:fld id="{1D954147-088D-44B3-8F17-576B28D6698D}" type="datetimeFigureOut">
              <a:rPr lang="en-IN" smtClean="0"/>
              <a:t>04-06-2026</a:t>
            </a:fld>
            <a:endParaRPr lang="en-IN"/>
          </a:p>
        </p:txBody>
      </p:sp>
      <p:sp>
        <p:nvSpPr>
          <p:cNvPr id="5" name="Footer Placeholder 4">
            <a:extLst>
              <a:ext uri="{FF2B5EF4-FFF2-40B4-BE49-F238E27FC236}">
                <a16:creationId xmlns:a16="http://schemas.microsoft.com/office/drawing/2014/main" id="{F2E725C8-C7E2-6243-CC6C-7AC8C75699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46EC6E-4BC2-DD00-70F2-2513E6342FD0}"/>
              </a:ext>
            </a:extLst>
          </p:cNvPr>
          <p:cNvSpPr>
            <a:spLocks noGrp="1"/>
          </p:cNvSpPr>
          <p:nvPr>
            <p:ph type="sldNum" sz="quarter" idx="12"/>
          </p:nvPr>
        </p:nvSpPr>
        <p:spPr/>
        <p:txBody>
          <a:bodyPr/>
          <a:lstStyle/>
          <a:p>
            <a:fld id="{CF6A7754-72E2-46F3-8100-1985D4A15DE4}" type="slidenum">
              <a:rPr lang="en-IN" smtClean="0"/>
              <a:t>‹#›</a:t>
            </a:fld>
            <a:endParaRPr lang="en-IN"/>
          </a:p>
        </p:txBody>
      </p:sp>
    </p:spTree>
    <p:extLst>
      <p:ext uri="{BB962C8B-B14F-4D97-AF65-F5344CB8AC3E}">
        <p14:creationId xmlns:p14="http://schemas.microsoft.com/office/powerpoint/2010/main" val="2282897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55035-2536-1CA7-C9C5-83C08DD6F1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B02D7F-4AFE-C35D-2091-0BE022BD3A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38887EB-C4B3-0C73-7E6C-F99F0F7F71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AD78E0-E0D3-E727-152A-691A962AF865}"/>
              </a:ext>
            </a:extLst>
          </p:cNvPr>
          <p:cNvSpPr>
            <a:spLocks noGrp="1"/>
          </p:cNvSpPr>
          <p:nvPr>
            <p:ph type="dt" sz="half" idx="10"/>
          </p:nvPr>
        </p:nvSpPr>
        <p:spPr/>
        <p:txBody>
          <a:bodyPr/>
          <a:lstStyle/>
          <a:p>
            <a:fld id="{1D954147-088D-44B3-8F17-576B28D6698D}" type="datetimeFigureOut">
              <a:rPr lang="en-IN" smtClean="0"/>
              <a:t>04-06-2026</a:t>
            </a:fld>
            <a:endParaRPr lang="en-IN"/>
          </a:p>
        </p:txBody>
      </p:sp>
      <p:sp>
        <p:nvSpPr>
          <p:cNvPr id="6" name="Footer Placeholder 5">
            <a:extLst>
              <a:ext uri="{FF2B5EF4-FFF2-40B4-BE49-F238E27FC236}">
                <a16:creationId xmlns:a16="http://schemas.microsoft.com/office/drawing/2014/main" id="{BF4DF8A1-05EC-1ED4-38D8-8488E75B89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3B227B-5F5E-58CC-67DE-EF72CD1CE09A}"/>
              </a:ext>
            </a:extLst>
          </p:cNvPr>
          <p:cNvSpPr>
            <a:spLocks noGrp="1"/>
          </p:cNvSpPr>
          <p:nvPr>
            <p:ph type="sldNum" sz="quarter" idx="12"/>
          </p:nvPr>
        </p:nvSpPr>
        <p:spPr/>
        <p:txBody>
          <a:bodyPr/>
          <a:lstStyle/>
          <a:p>
            <a:fld id="{CF6A7754-72E2-46F3-8100-1985D4A15DE4}" type="slidenum">
              <a:rPr lang="en-IN" smtClean="0"/>
              <a:t>‹#›</a:t>
            </a:fld>
            <a:endParaRPr lang="en-IN"/>
          </a:p>
        </p:txBody>
      </p:sp>
    </p:spTree>
    <p:extLst>
      <p:ext uri="{BB962C8B-B14F-4D97-AF65-F5344CB8AC3E}">
        <p14:creationId xmlns:p14="http://schemas.microsoft.com/office/powerpoint/2010/main" val="144886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A9D4D-BB44-0BB6-F11D-C2713DEA62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EBC387-6B70-37AE-0740-660F365303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2E2C10-E9B4-5797-30A9-9917CAF08D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A57EF5-92BC-9B35-C013-823E415FDA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1AB08-00E2-57F7-0A29-2D348C9EEC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DBC26C8-962D-12CD-5BFC-F9FF25DA6A42}"/>
              </a:ext>
            </a:extLst>
          </p:cNvPr>
          <p:cNvSpPr>
            <a:spLocks noGrp="1"/>
          </p:cNvSpPr>
          <p:nvPr>
            <p:ph type="dt" sz="half" idx="10"/>
          </p:nvPr>
        </p:nvSpPr>
        <p:spPr/>
        <p:txBody>
          <a:bodyPr/>
          <a:lstStyle/>
          <a:p>
            <a:fld id="{1D954147-088D-44B3-8F17-576B28D6698D}" type="datetimeFigureOut">
              <a:rPr lang="en-IN" smtClean="0"/>
              <a:t>04-06-2026</a:t>
            </a:fld>
            <a:endParaRPr lang="en-IN"/>
          </a:p>
        </p:txBody>
      </p:sp>
      <p:sp>
        <p:nvSpPr>
          <p:cNvPr id="8" name="Footer Placeholder 7">
            <a:extLst>
              <a:ext uri="{FF2B5EF4-FFF2-40B4-BE49-F238E27FC236}">
                <a16:creationId xmlns:a16="http://schemas.microsoft.com/office/drawing/2014/main" id="{3810C719-4B83-07E4-17A8-C040955755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61EB53B-D17A-075E-AD0C-6EC80A0C25F5}"/>
              </a:ext>
            </a:extLst>
          </p:cNvPr>
          <p:cNvSpPr>
            <a:spLocks noGrp="1"/>
          </p:cNvSpPr>
          <p:nvPr>
            <p:ph type="sldNum" sz="quarter" idx="12"/>
          </p:nvPr>
        </p:nvSpPr>
        <p:spPr/>
        <p:txBody>
          <a:bodyPr/>
          <a:lstStyle/>
          <a:p>
            <a:fld id="{CF6A7754-72E2-46F3-8100-1985D4A15DE4}" type="slidenum">
              <a:rPr lang="en-IN" smtClean="0"/>
              <a:t>‹#›</a:t>
            </a:fld>
            <a:endParaRPr lang="en-IN"/>
          </a:p>
        </p:txBody>
      </p:sp>
    </p:spTree>
    <p:extLst>
      <p:ext uri="{BB962C8B-B14F-4D97-AF65-F5344CB8AC3E}">
        <p14:creationId xmlns:p14="http://schemas.microsoft.com/office/powerpoint/2010/main" val="3829925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B3311-FFCB-4F80-C45E-3A8EF3B6994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92D121-2577-1632-A170-E39F3122F420}"/>
              </a:ext>
            </a:extLst>
          </p:cNvPr>
          <p:cNvSpPr>
            <a:spLocks noGrp="1"/>
          </p:cNvSpPr>
          <p:nvPr>
            <p:ph type="dt" sz="half" idx="10"/>
          </p:nvPr>
        </p:nvSpPr>
        <p:spPr/>
        <p:txBody>
          <a:bodyPr/>
          <a:lstStyle/>
          <a:p>
            <a:fld id="{1D954147-088D-44B3-8F17-576B28D6698D}" type="datetimeFigureOut">
              <a:rPr lang="en-IN" smtClean="0"/>
              <a:t>04-06-2026</a:t>
            </a:fld>
            <a:endParaRPr lang="en-IN"/>
          </a:p>
        </p:txBody>
      </p:sp>
      <p:sp>
        <p:nvSpPr>
          <p:cNvPr id="4" name="Footer Placeholder 3">
            <a:extLst>
              <a:ext uri="{FF2B5EF4-FFF2-40B4-BE49-F238E27FC236}">
                <a16:creationId xmlns:a16="http://schemas.microsoft.com/office/drawing/2014/main" id="{5C6C3AC2-E41C-102A-A743-B73C53E067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1060D44-56C0-5F86-FAEA-A8936C212D4D}"/>
              </a:ext>
            </a:extLst>
          </p:cNvPr>
          <p:cNvSpPr>
            <a:spLocks noGrp="1"/>
          </p:cNvSpPr>
          <p:nvPr>
            <p:ph type="sldNum" sz="quarter" idx="12"/>
          </p:nvPr>
        </p:nvSpPr>
        <p:spPr/>
        <p:txBody>
          <a:bodyPr/>
          <a:lstStyle/>
          <a:p>
            <a:fld id="{CF6A7754-72E2-46F3-8100-1985D4A15DE4}" type="slidenum">
              <a:rPr lang="en-IN" smtClean="0"/>
              <a:t>‹#›</a:t>
            </a:fld>
            <a:endParaRPr lang="en-IN"/>
          </a:p>
        </p:txBody>
      </p:sp>
    </p:spTree>
    <p:extLst>
      <p:ext uri="{BB962C8B-B14F-4D97-AF65-F5344CB8AC3E}">
        <p14:creationId xmlns:p14="http://schemas.microsoft.com/office/powerpoint/2010/main" val="2920551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80DAA6-C651-4C61-F855-08EB19FC0340}"/>
              </a:ext>
            </a:extLst>
          </p:cNvPr>
          <p:cNvSpPr>
            <a:spLocks noGrp="1"/>
          </p:cNvSpPr>
          <p:nvPr>
            <p:ph type="dt" sz="half" idx="10"/>
          </p:nvPr>
        </p:nvSpPr>
        <p:spPr/>
        <p:txBody>
          <a:bodyPr/>
          <a:lstStyle/>
          <a:p>
            <a:fld id="{1D954147-088D-44B3-8F17-576B28D6698D}" type="datetimeFigureOut">
              <a:rPr lang="en-IN" smtClean="0"/>
              <a:t>04-06-2026</a:t>
            </a:fld>
            <a:endParaRPr lang="en-IN"/>
          </a:p>
        </p:txBody>
      </p:sp>
      <p:sp>
        <p:nvSpPr>
          <p:cNvPr id="3" name="Footer Placeholder 2">
            <a:extLst>
              <a:ext uri="{FF2B5EF4-FFF2-40B4-BE49-F238E27FC236}">
                <a16:creationId xmlns:a16="http://schemas.microsoft.com/office/drawing/2014/main" id="{2F053CBC-D88E-8CB6-B375-0F9D6D101B4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87A59A-73D6-4D6F-0893-AF3056338E88}"/>
              </a:ext>
            </a:extLst>
          </p:cNvPr>
          <p:cNvSpPr>
            <a:spLocks noGrp="1"/>
          </p:cNvSpPr>
          <p:nvPr>
            <p:ph type="sldNum" sz="quarter" idx="12"/>
          </p:nvPr>
        </p:nvSpPr>
        <p:spPr/>
        <p:txBody>
          <a:bodyPr/>
          <a:lstStyle/>
          <a:p>
            <a:fld id="{CF6A7754-72E2-46F3-8100-1985D4A15DE4}" type="slidenum">
              <a:rPr lang="en-IN" smtClean="0"/>
              <a:t>‹#›</a:t>
            </a:fld>
            <a:endParaRPr lang="en-IN"/>
          </a:p>
        </p:txBody>
      </p:sp>
    </p:spTree>
    <p:extLst>
      <p:ext uri="{BB962C8B-B14F-4D97-AF65-F5344CB8AC3E}">
        <p14:creationId xmlns:p14="http://schemas.microsoft.com/office/powerpoint/2010/main" val="2527417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33B60-9220-CBC5-117F-7180EEF44C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4397CCA-4041-06FE-CB3D-22284A6A51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CBBE669-FA11-1EF0-2556-2C9E83A920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9518FD-8C83-4B02-ACB4-A6AB542B43BF}"/>
              </a:ext>
            </a:extLst>
          </p:cNvPr>
          <p:cNvSpPr>
            <a:spLocks noGrp="1"/>
          </p:cNvSpPr>
          <p:nvPr>
            <p:ph type="dt" sz="half" idx="10"/>
          </p:nvPr>
        </p:nvSpPr>
        <p:spPr/>
        <p:txBody>
          <a:bodyPr/>
          <a:lstStyle/>
          <a:p>
            <a:fld id="{1D954147-088D-44B3-8F17-576B28D6698D}" type="datetimeFigureOut">
              <a:rPr lang="en-IN" smtClean="0"/>
              <a:t>04-06-2026</a:t>
            </a:fld>
            <a:endParaRPr lang="en-IN"/>
          </a:p>
        </p:txBody>
      </p:sp>
      <p:sp>
        <p:nvSpPr>
          <p:cNvPr id="6" name="Footer Placeholder 5">
            <a:extLst>
              <a:ext uri="{FF2B5EF4-FFF2-40B4-BE49-F238E27FC236}">
                <a16:creationId xmlns:a16="http://schemas.microsoft.com/office/drawing/2014/main" id="{618CD2FD-46E1-91FE-EEC6-B28078B236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B92C11-4694-7D4B-4739-DDF767D64F3E}"/>
              </a:ext>
            </a:extLst>
          </p:cNvPr>
          <p:cNvSpPr>
            <a:spLocks noGrp="1"/>
          </p:cNvSpPr>
          <p:nvPr>
            <p:ph type="sldNum" sz="quarter" idx="12"/>
          </p:nvPr>
        </p:nvSpPr>
        <p:spPr/>
        <p:txBody>
          <a:bodyPr/>
          <a:lstStyle/>
          <a:p>
            <a:fld id="{CF6A7754-72E2-46F3-8100-1985D4A15DE4}" type="slidenum">
              <a:rPr lang="en-IN" smtClean="0"/>
              <a:t>‹#›</a:t>
            </a:fld>
            <a:endParaRPr lang="en-IN"/>
          </a:p>
        </p:txBody>
      </p:sp>
    </p:spTree>
    <p:extLst>
      <p:ext uri="{BB962C8B-B14F-4D97-AF65-F5344CB8AC3E}">
        <p14:creationId xmlns:p14="http://schemas.microsoft.com/office/powerpoint/2010/main" val="1756231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7688D-B27C-6E32-0B94-AA2B0CEF15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B7B6453-4C63-2131-0777-C290CCC93F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09E7BB-DCBF-7C47-5D85-7C67FA12D1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BF97E3-AB2D-CC30-66DB-A2B8ACDC499E}"/>
              </a:ext>
            </a:extLst>
          </p:cNvPr>
          <p:cNvSpPr>
            <a:spLocks noGrp="1"/>
          </p:cNvSpPr>
          <p:nvPr>
            <p:ph type="dt" sz="half" idx="10"/>
          </p:nvPr>
        </p:nvSpPr>
        <p:spPr/>
        <p:txBody>
          <a:bodyPr/>
          <a:lstStyle/>
          <a:p>
            <a:fld id="{1D954147-088D-44B3-8F17-576B28D6698D}" type="datetimeFigureOut">
              <a:rPr lang="en-IN" smtClean="0"/>
              <a:t>04-06-2026</a:t>
            </a:fld>
            <a:endParaRPr lang="en-IN"/>
          </a:p>
        </p:txBody>
      </p:sp>
      <p:sp>
        <p:nvSpPr>
          <p:cNvPr id="6" name="Footer Placeholder 5">
            <a:extLst>
              <a:ext uri="{FF2B5EF4-FFF2-40B4-BE49-F238E27FC236}">
                <a16:creationId xmlns:a16="http://schemas.microsoft.com/office/drawing/2014/main" id="{6C16DF2B-6447-B82F-E487-02E4F5BB8C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C1093B-F168-603B-D525-E589C78AD095}"/>
              </a:ext>
            </a:extLst>
          </p:cNvPr>
          <p:cNvSpPr>
            <a:spLocks noGrp="1"/>
          </p:cNvSpPr>
          <p:nvPr>
            <p:ph type="sldNum" sz="quarter" idx="12"/>
          </p:nvPr>
        </p:nvSpPr>
        <p:spPr/>
        <p:txBody>
          <a:bodyPr/>
          <a:lstStyle/>
          <a:p>
            <a:fld id="{CF6A7754-72E2-46F3-8100-1985D4A15DE4}" type="slidenum">
              <a:rPr lang="en-IN" smtClean="0"/>
              <a:t>‹#›</a:t>
            </a:fld>
            <a:endParaRPr lang="en-IN"/>
          </a:p>
        </p:txBody>
      </p:sp>
    </p:spTree>
    <p:extLst>
      <p:ext uri="{BB962C8B-B14F-4D97-AF65-F5344CB8AC3E}">
        <p14:creationId xmlns:p14="http://schemas.microsoft.com/office/powerpoint/2010/main" val="2232127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4FB9-847F-03DA-41DF-3BF5D70761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B47EC8-E100-9FA8-4DEF-A76C3168C3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1EF5B0-C9A7-0B32-DF5D-317E8F6334FE}"/>
              </a:ext>
            </a:extLst>
          </p:cNvPr>
          <p:cNvSpPr>
            <a:spLocks noGrp="1"/>
          </p:cNvSpPr>
          <p:nvPr>
            <p:ph type="dt" sz="half" idx="10"/>
          </p:nvPr>
        </p:nvSpPr>
        <p:spPr/>
        <p:txBody>
          <a:bodyPr/>
          <a:lstStyle/>
          <a:p>
            <a:fld id="{1D954147-088D-44B3-8F17-576B28D6698D}" type="datetimeFigureOut">
              <a:rPr lang="en-IN" smtClean="0"/>
              <a:t>04-06-2026</a:t>
            </a:fld>
            <a:endParaRPr lang="en-IN"/>
          </a:p>
        </p:txBody>
      </p:sp>
      <p:sp>
        <p:nvSpPr>
          <p:cNvPr id="5" name="Footer Placeholder 4">
            <a:extLst>
              <a:ext uri="{FF2B5EF4-FFF2-40B4-BE49-F238E27FC236}">
                <a16:creationId xmlns:a16="http://schemas.microsoft.com/office/drawing/2014/main" id="{878572FA-93A1-5C1A-6F3A-657C2CCB4F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55EA51-16F2-1FDA-C4FC-7598E6BCFF6E}"/>
              </a:ext>
            </a:extLst>
          </p:cNvPr>
          <p:cNvSpPr>
            <a:spLocks noGrp="1"/>
          </p:cNvSpPr>
          <p:nvPr>
            <p:ph type="sldNum" sz="quarter" idx="12"/>
          </p:nvPr>
        </p:nvSpPr>
        <p:spPr/>
        <p:txBody>
          <a:bodyPr/>
          <a:lstStyle/>
          <a:p>
            <a:fld id="{CF6A7754-72E2-46F3-8100-1985D4A15DE4}" type="slidenum">
              <a:rPr lang="en-IN" smtClean="0"/>
              <a:t>‹#›</a:t>
            </a:fld>
            <a:endParaRPr lang="en-IN"/>
          </a:p>
        </p:txBody>
      </p:sp>
    </p:spTree>
    <p:extLst>
      <p:ext uri="{BB962C8B-B14F-4D97-AF65-F5344CB8AC3E}">
        <p14:creationId xmlns:p14="http://schemas.microsoft.com/office/powerpoint/2010/main" val="883850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975940-5DF1-91F0-0D08-B039FA5BE7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99EDE6-FAA8-C8A1-C08E-DD1870AB5B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0B6BA5-B831-C445-3122-7E895BD24705}"/>
              </a:ext>
            </a:extLst>
          </p:cNvPr>
          <p:cNvSpPr>
            <a:spLocks noGrp="1"/>
          </p:cNvSpPr>
          <p:nvPr>
            <p:ph type="dt" sz="half" idx="10"/>
          </p:nvPr>
        </p:nvSpPr>
        <p:spPr/>
        <p:txBody>
          <a:bodyPr/>
          <a:lstStyle/>
          <a:p>
            <a:fld id="{1D954147-088D-44B3-8F17-576B28D6698D}" type="datetimeFigureOut">
              <a:rPr lang="en-IN" smtClean="0"/>
              <a:t>04-06-2026</a:t>
            </a:fld>
            <a:endParaRPr lang="en-IN"/>
          </a:p>
        </p:txBody>
      </p:sp>
      <p:sp>
        <p:nvSpPr>
          <p:cNvPr id="5" name="Footer Placeholder 4">
            <a:extLst>
              <a:ext uri="{FF2B5EF4-FFF2-40B4-BE49-F238E27FC236}">
                <a16:creationId xmlns:a16="http://schemas.microsoft.com/office/drawing/2014/main" id="{3775CB3B-EC1A-073D-0A16-E310EF2A9C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59BC13-AD7F-F8C5-063B-BB515CE08E4F}"/>
              </a:ext>
            </a:extLst>
          </p:cNvPr>
          <p:cNvSpPr>
            <a:spLocks noGrp="1"/>
          </p:cNvSpPr>
          <p:nvPr>
            <p:ph type="sldNum" sz="quarter" idx="12"/>
          </p:nvPr>
        </p:nvSpPr>
        <p:spPr/>
        <p:txBody>
          <a:bodyPr/>
          <a:lstStyle/>
          <a:p>
            <a:fld id="{CF6A7754-72E2-46F3-8100-1985D4A15DE4}" type="slidenum">
              <a:rPr lang="en-IN" smtClean="0"/>
              <a:t>‹#›</a:t>
            </a:fld>
            <a:endParaRPr lang="en-IN"/>
          </a:p>
        </p:txBody>
      </p:sp>
    </p:spTree>
    <p:extLst>
      <p:ext uri="{BB962C8B-B14F-4D97-AF65-F5344CB8AC3E}">
        <p14:creationId xmlns:p14="http://schemas.microsoft.com/office/powerpoint/2010/main" val="4217132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61A33D-85B1-7C70-D1DD-06881081E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FAECF8-3C57-78CC-223A-50B4418DD5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1455E7-C2DD-A927-80FB-81D04FEF38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954147-088D-44B3-8F17-576B28D6698D}" type="datetimeFigureOut">
              <a:rPr lang="en-IN" smtClean="0"/>
              <a:t>04-06-2026</a:t>
            </a:fld>
            <a:endParaRPr lang="en-IN"/>
          </a:p>
        </p:txBody>
      </p:sp>
      <p:sp>
        <p:nvSpPr>
          <p:cNvPr id="5" name="Footer Placeholder 4">
            <a:extLst>
              <a:ext uri="{FF2B5EF4-FFF2-40B4-BE49-F238E27FC236}">
                <a16:creationId xmlns:a16="http://schemas.microsoft.com/office/drawing/2014/main" id="{AD00BF95-3DF4-4E45-F7EC-D957ED36E4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AC4BDCD-9895-CBC3-4872-A3074C500C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6A7754-72E2-46F3-8100-1985D4A15DE4}" type="slidenum">
              <a:rPr lang="en-IN" smtClean="0"/>
              <a:t>‹#›</a:t>
            </a:fld>
            <a:endParaRPr lang="en-IN"/>
          </a:p>
        </p:txBody>
      </p:sp>
    </p:spTree>
    <p:extLst>
      <p:ext uri="{BB962C8B-B14F-4D97-AF65-F5344CB8AC3E}">
        <p14:creationId xmlns:p14="http://schemas.microsoft.com/office/powerpoint/2010/main" val="2986109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1E56EA9-91C8-5D75-DBE8-C18405D8CF02}"/>
              </a:ext>
            </a:extLst>
          </p:cNvPr>
          <p:cNvGrpSpPr/>
          <p:nvPr/>
        </p:nvGrpSpPr>
        <p:grpSpPr>
          <a:xfrm>
            <a:off x="1818966" y="285135"/>
            <a:ext cx="8554065" cy="4454013"/>
            <a:chOff x="2015611" y="-1"/>
            <a:chExt cx="8554065" cy="4454013"/>
          </a:xfrm>
        </p:grpSpPr>
        <p:sp>
          <p:nvSpPr>
            <p:cNvPr id="4" name="Rectangle: Rounded Corners 3">
              <a:extLst>
                <a:ext uri="{FF2B5EF4-FFF2-40B4-BE49-F238E27FC236}">
                  <a16:creationId xmlns:a16="http://schemas.microsoft.com/office/drawing/2014/main" id="{AB93E174-57C1-6E74-BCDD-F3FC9EBF1F9C}"/>
                </a:ext>
              </a:extLst>
            </p:cNvPr>
            <p:cNvSpPr/>
            <p:nvPr/>
          </p:nvSpPr>
          <p:spPr>
            <a:xfrm>
              <a:off x="5063612" y="3264156"/>
              <a:ext cx="2458064" cy="1180058"/>
            </a:xfrm>
            <a:prstGeom prst="round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61D335DF-CAC7-671F-9C52-C817A5BEFF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5611" y="-1"/>
              <a:ext cx="8554065" cy="4454013"/>
            </a:xfrm>
            <a:prstGeom prst="rect">
              <a:avLst/>
            </a:prstGeom>
          </p:spPr>
        </p:pic>
      </p:grpSp>
      <p:sp>
        <p:nvSpPr>
          <p:cNvPr id="6" name="TextBox 5">
            <a:extLst>
              <a:ext uri="{FF2B5EF4-FFF2-40B4-BE49-F238E27FC236}">
                <a16:creationId xmlns:a16="http://schemas.microsoft.com/office/drawing/2014/main" id="{25184D81-05FB-6066-1DE6-0473117C7934}"/>
              </a:ext>
            </a:extLst>
          </p:cNvPr>
          <p:cNvSpPr txBox="1"/>
          <p:nvPr/>
        </p:nvSpPr>
        <p:spPr>
          <a:xfrm>
            <a:off x="904565" y="4984952"/>
            <a:ext cx="10382865" cy="769441"/>
          </a:xfrm>
          <a:prstGeom prst="rect">
            <a:avLst/>
          </a:prstGeom>
          <a:noFill/>
        </p:spPr>
        <p:txBody>
          <a:bodyPr wrap="square" rtlCol="0">
            <a:spAutoFit/>
          </a:bodyPr>
          <a:lstStyle/>
          <a:p>
            <a:r>
              <a:rPr lang="en-IN" sz="4400" dirty="0">
                <a:solidFill>
                  <a:schemeClr val="bg1">
                    <a:lumMod val="95000"/>
                  </a:schemeClr>
                </a:solidFill>
                <a:latin typeface="Avenir Next LT Pro" panose="020B0504020202020204" pitchFamily="34" charset="0"/>
              </a:rPr>
              <a:t>The Number Games: </a:t>
            </a:r>
            <a:r>
              <a:rPr lang="en-IN" sz="3200" dirty="0">
                <a:solidFill>
                  <a:schemeClr val="bg1">
                    <a:lumMod val="95000"/>
                  </a:schemeClr>
                </a:solidFill>
                <a:latin typeface="Avenir Next LT Pro" panose="020B0504020202020204" pitchFamily="34" charset="0"/>
              </a:rPr>
              <a:t>Tamil Nadu Election 2026</a:t>
            </a:r>
            <a:endParaRPr lang="en-IN" sz="4000" dirty="0">
              <a:solidFill>
                <a:schemeClr val="bg1">
                  <a:lumMod val="95000"/>
                </a:schemeClr>
              </a:solidFill>
              <a:latin typeface="Avenir Next LT Pro" panose="020B0504020202020204" pitchFamily="34" charset="0"/>
            </a:endParaRPr>
          </a:p>
        </p:txBody>
      </p:sp>
      <p:sp>
        <p:nvSpPr>
          <p:cNvPr id="2" name="TextBox 1">
            <a:extLst>
              <a:ext uri="{FF2B5EF4-FFF2-40B4-BE49-F238E27FC236}">
                <a16:creationId xmlns:a16="http://schemas.microsoft.com/office/drawing/2014/main" id="{5F323305-26A1-F5F2-1EE8-7BFE29928A9C}"/>
              </a:ext>
            </a:extLst>
          </p:cNvPr>
          <p:cNvSpPr txBox="1"/>
          <p:nvPr/>
        </p:nvSpPr>
        <p:spPr>
          <a:xfrm>
            <a:off x="904565" y="5830920"/>
            <a:ext cx="5313355" cy="338554"/>
          </a:xfrm>
          <a:prstGeom prst="rect">
            <a:avLst/>
          </a:prstGeom>
          <a:noFill/>
        </p:spPr>
        <p:txBody>
          <a:bodyPr wrap="square" rtlCol="0">
            <a:spAutoFit/>
          </a:bodyPr>
          <a:lstStyle/>
          <a:p>
            <a:r>
              <a:rPr lang="en-IN" sz="1600" dirty="0">
                <a:solidFill>
                  <a:schemeClr val="bg1">
                    <a:lumMod val="95000"/>
                  </a:schemeClr>
                </a:solidFill>
                <a:latin typeface="Avenir Next LT Pro" panose="020B0504020202020204" pitchFamily="34" charset="0"/>
              </a:rPr>
              <a:t>Analysed by Md Shafi Alam</a:t>
            </a:r>
            <a:endParaRPr lang="en-IN" sz="2000" dirty="0">
              <a:solidFill>
                <a:schemeClr val="bg1">
                  <a:lumMod val="95000"/>
                </a:schemeClr>
              </a:solidFill>
              <a:latin typeface="Avenir Next LT Pro" panose="020B0504020202020204" pitchFamily="34" charset="0"/>
            </a:endParaRPr>
          </a:p>
        </p:txBody>
      </p:sp>
    </p:spTree>
    <p:extLst>
      <p:ext uri="{BB962C8B-B14F-4D97-AF65-F5344CB8AC3E}">
        <p14:creationId xmlns:p14="http://schemas.microsoft.com/office/powerpoint/2010/main" val="1721930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C92B8B73-D639-4FB7-110C-3245B2B660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3A1A84-BF06-3A46-C7CC-4ADB6B32A610}"/>
              </a:ext>
            </a:extLst>
          </p:cNvPr>
          <p:cNvSpPr txBox="1"/>
          <p:nvPr/>
        </p:nvSpPr>
        <p:spPr>
          <a:xfrm>
            <a:off x="3168444" y="3075057"/>
            <a:ext cx="5855111" cy="707886"/>
          </a:xfrm>
          <a:prstGeom prst="rect">
            <a:avLst/>
          </a:prstGeom>
          <a:noFill/>
        </p:spPr>
        <p:txBody>
          <a:bodyPr wrap="square" rtlCol="0">
            <a:spAutoFit/>
          </a:bodyPr>
          <a:lstStyle/>
          <a:p>
            <a:r>
              <a:rPr lang="en-IN" sz="4000" dirty="0">
                <a:solidFill>
                  <a:schemeClr val="bg1">
                    <a:lumMod val="95000"/>
                  </a:schemeClr>
                </a:solidFill>
                <a:latin typeface="Avenir Next LT Pro" panose="020B0504020202020204" pitchFamily="34" charset="0"/>
              </a:rPr>
              <a:t>What Broke and Where?</a:t>
            </a:r>
          </a:p>
        </p:txBody>
      </p:sp>
    </p:spTree>
    <p:extLst>
      <p:ext uri="{BB962C8B-B14F-4D97-AF65-F5344CB8AC3E}">
        <p14:creationId xmlns:p14="http://schemas.microsoft.com/office/powerpoint/2010/main" val="2174390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FD16568F-10EC-6315-02F0-9A067E9C63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8D02DA-9FF1-1ECD-ECDB-EAC3218DD95D}"/>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Flip Story</a:t>
            </a:r>
          </a:p>
        </p:txBody>
      </p:sp>
      <p:sp>
        <p:nvSpPr>
          <p:cNvPr id="4" name="TextBox 3">
            <a:extLst>
              <a:ext uri="{FF2B5EF4-FFF2-40B4-BE49-F238E27FC236}">
                <a16:creationId xmlns:a16="http://schemas.microsoft.com/office/drawing/2014/main" id="{11F72628-FD20-9BBE-EEE1-BAEE2405CC52}"/>
              </a:ext>
            </a:extLst>
          </p:cNvPr>
          <p:cNvSpPr txBox="1"/>
          <p:nvPr/>
        </p:nvSpPr>
        <p:spPr>
          <a:xfrm>
            <a:off x="3677265" y="341689"/>
            <a:ext cx="8001002" cy="400110"/>
          </a:xfrm>
          <a:prstGeom prst="rect">
            <a:avLst/>
          </a:prstGeom>
          <a:noFill/>
        </p:spPr>
        <p:txBody>
          <a:bodyPr wrap="square">
            <a:spAutoFit/>
          </a:bodyPr>
          <a:lstStyle/>
          <a:p>
            <a:r>
              <a:rPr lang="en-US" sz="2000" b="1" i="0" dirty="0">
                <a:solidFill>
                  <a:srgbClr val="FAF9F5"/>
                </a:solidFill>
                <a:effectLst/>
                <a:latin typeface="Avenir Next LT Pro" panose="020B0504020202020204" pitchFamily="34" charset="0"/>
              </a:rPr>
              <a:t> The Night 163 out of 234 Constituencies Changed Their Mind</a:t>
            </a:r>
            <a:endParaRPr lang="en-IN" sz="2000" dirty="0">
              <a:latin typeface="Avenir Next LT Pro" panose="020B0504020202020204" pitchFamily="34" charset="0"/>
            </a:endParaRPr>
          </a:p>
        </p:txBody>
      </p:sp>
      <p:pic>
        <p:nvPicPr>
          <p:cNvPr id="6" name="Picture 5">
            <a:extLst>
              <a:ext uri="{FF2B5EF4-FFF2-40B4-BE49-F238E27FC236}">
                <a16:creationId xmlns:a16="http://schemas.microsoft.com/office/drawing/2014/main" id="{B8DE7A6A-EAD9-1C64-BA46-F03086382E43}"/>
              </a:ext>
            </a:extLst>
          </p:cNvPr>
          <p:cNvPicPr>
            <a:picLocks noChangeAspect="1"/>
          </p:cNvPicPr>
          <p:nvPr/>
        </p:nvPicPr>
        <p:blipFill>
          <a:blip r:embed="rId2"/>
          <a:stretch>
            <a:fillRect/>
          </a:stretch>
        </p:blipFill>
        <p:spPr>
          <a:xfrm>
            <a:off x="7163879" y="2367233"/>
            <a:ext cx="4170259" cy="1777487"/>
          </a:xfrm>
          <a:prstGeom prst="rect">
            <a:avLst/>
          </a:prstGeom>
        </p:spPr>
      </p:pic>
      <p:sp>
        <p:nvSpPr>
          <p:cNvPr id="7" name="TextBox 6">
            <a:extLst>
              <a:ext uri="{FF2B5EF4-FFF2-40B4-BE49-F238E27FC236}">
                <a16:creationId xmlns:a16="http://schemas.microsoft.com/office/drawing/2014/main" id="{4F924D0A-834A-0D81-1AF4-EF9F0C20E9C1}"/>
              </a:ext>
            </a:extLst>
          </p:cNvPr>
          <p:cNvSpPr txBox="1"/>
          <p:nvPr/>
        </p:nvSpPr>
        <p:spPr>
          <a:xfrm>
            <a:off x="513733" y="2756566"/>
            <a:ext cx="5137354" cy="830997"/>
          </a:xfrm>
          <a:prstGeom prst="rect">
            <a:avLst/>
          </a:prstGeom>
          <a:noFill/>
        </p:spPr>
        <p:txBody>
          <a:bodyPr wrap="square" rtlCol="0">
            <a:spAutoFit/>
          </a:bodyPr>
          <a:lstStyle/>
          <a:p>
            <a:r>
              <a:rPr lang="en-US" sz="2400" b="1" dirty="0">
                <a:solidFill>
                  <a:srgbClr val="FAF9F5"/>
                </a:solidFill>
                <a:latin typeface="Avenir Next LT Pro" panose="020B0504020202020204" pitchFamily="34" charset="0"/>
              </a:rPr>
              <a:t>The </a:t>
            </a:r>
            <a:r>
              <a:rPr lang="en-US" sz="2400" b="1" dirty="0">
                <a:solidFill>
                  <a:srgbClr val="92D050"/>
                </a:solidFill>
                <a:latin typeface="Avenir Next LT Pro" panose="020B0504020202020204" pitchFamily="34" charset="0"/>
              </a:rPr>
              <a:t>HIGHEST</a:t>
            </a:r>
            <a:r>
              <a:rPr lang="en-US" sz="2400" b="1" dirty="0">
                <a:solidFill>
                  <a:srgbClr val="FAF9F5"/>
                </a:solidFill>
                <a:latin typeface="Avenir Next LT Pro" panose="020B0504020202020204" pitchFamily="34" charset="0"/>
              </a:rPr>
              <a:t> seat turnover in the state's modern political history.</a:t>
            </a:r>
            <a:endParaRPr lang="en-IN" sz="2400" b="1" dirty="0">
              <a:solidFill>
                <a:srgbClr val="FAF9F5"/>
              </a:solidFill>
              <a:latin typeface="Avenir Next LT Pro" panose="020B0504020202020204" pitchFamily="34" charset="0"/>
            </a:endParaRPr>
          </a:p>
        </p:txBody>
      </p:sp>
    </p:spTree>
    <p:extLst>
      <p:ext uri="{BB962C8B-B14F-4D97-AF65-F5344CB8AC3E}">
        <p14:creationId xmlns:p14="http://schemas.microsoft.com/office/powerpoint/2010/main" val="2749438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49846832-64A3-B5BB-73E1-DC09002118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03F512-0506-1A0A-635D-88A761E929B9}"/>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Flip Story</a:t>
            </a:r>
          </a:p>
        </p:txBody>
      </p:sp>
      <p:sp>
        <p:nvSpPr>
          <p:cNvPr id="4" name="TextBox 3">
            <a:extLst>
              <a:ext uri="{FF2B5EF4-FFF2-40B4-BE49-F238E27FC236}">
                <a16:creationId xmlns:a16="http://schemas.microsoft.com/office/drawing/2014/main" id="{360D53C0-D280-A9B3-7EB6-6B42022458CB}"/>
              </a:ext>
            </a:extLst>
          </p:cNvPr>
          <p:cNvSpPr txBox="1"/>
          <p:nvPr/>
        </p:nvSpPr>
        <p:spPr>
          <a:xfrm>
            <a:off x="4198373" y="341689"/>
            <a:ext cx="7479893"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Tamil Nadu Didn't Have an Election. It Had a Replacement.</a:t>
            </a:r>
            <a:endParaRPr lang="en-IN" sz="2000" b="1" dirty="0">
              <a:solidFill>
                <a:srgbClr val="FAF9F5"/>
              </a:solidFill>
              <a:latin typeface="Avenir Next LT Pro" panose="020B0504020202020204" pitchFamily="34" charset="0"/>
            </a:endParaRPr>
          </a:p>
        </p:txBody>
      </p:sp>
      <p:pic>
        <p:nvPicPr>
          <p:cNvPr id="5" name="Picture 4">
            <a:extLst>
              <a:ext uri="{FF2B5EF4-FFF2-40B4-BE49-F238E27FC236}">
                <a16:creationId xmlns:a16="http://schemas.microsoft.com/office/drawing/2014/main" id="{81A95419-AAE3-38A6-0FCE-379E2637E5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546" y="1540809"/>
            <a:ext cx="11773454" cy="4960113"/>
          </a:xfrm>
          <a:prstGeom prst="rect">
            <a:avLst/>
          </a:prstGeom>
        </p:spPr>
      </p:pic>
      <p:sp>
        <p:nvSpPr>
          <p:cNvPr id="9" name="TextBox 8">
            <a:extLst>
              <a:ext uri="{FF2B5EF4-FFF2-40B4-BE49-F238E27FC236}">
                <a16:creationId xmlns:a16="http://schemas.microsoft.com/office/drawing/2014/main" id="{E48D16F9-8761-9402-8E94-704184CD2BF8}"/>
              </a:ext>
            </a:extLst>
          </p:cNvPr>
          <p:cNvSpPr txBox="1"/>
          <p:nvPr/>
        </p:nvSpPr>
        <p:spPr>
          <a:xfrm>
            <a:off x="3856701" y="2466706"/>
            <a:ext cx="7821565" cy="461665"/>
          </a:xfrm>
          <a:prstGeom prst="rect">
            <a:avLst/>
          </a:prstGeom>
          <a:noFill/>
        </p:spPr>
        <p:txBody>
          <a:bodyPr wrap="square" rtlCol="0">
            <a:spAutoFit/>
          </a:bodyPr>
          <a:lstStyle/>
          <a:p>
            <a:r>
              <a:rPr lang="en-US" sz="2400" b="1" dirty="0">
                <a:solidFill>
                  <a:srgbClr val="FAF9F5"/>
                </a:solidFill>
                <a:latin typeface="Avenir Next LT Pro" panose="020B0504020202020204" pitchFamily="34" charset="0"/>
              </a:rPr>
              <a:t>Only 71 seats or </a:t>
            </a:r>
            <a:r>
              <a:rPr lang="en-US" sz="2400" b="1" dirty="0">
                <a:solidFill>
                  <a:srgbClr val="FF0000"/>
                </a:solidFill>
                <a:latin typeface="Avenir Next LT Pro" panose="020B0504020202020204" pitchFamily="34" charset="0"/>
              </a:rPr>
              <a:t>3 out of each 10 </a:t>
            </a:r>
            <a:r>
              <a:rPr lang="en-US" sz="2400" b="1" dirty="0">
                <a:solidFill>
                  <a:srgbClr val="FAF9F5"/>
                </a:solidFill>
                <a:latin typeface="Avenir Next LT Pro" panose="020B0504020202020204" pitchFamily="34" charset="0"/>
              </a:rPr>
              <a:t>seats are retained</a:t>
            </a:r>
            <a:endParaRPr lang="en-IN" sz="2400" b="1" dirty="0">
              <a:solidFill>
                <a:srgbClr val="FAF9F5"/>
              </a:solidFill>
              <a:latin typeface="Avenir Next LT Pro" panose="020B0504020202020204" pitchFamily="34" charset="0"/>
            </a:endParaRPr>
          </a:p>
        </p:txBody>
      </p:sp>
    </p:spTree>
    <p:extLst>
      <p:ext uri="{BB962C8B-B14F-4D97-AF65-F5344CB8AC3E}">
        <p14:creationId xmlns:p14="http://schemas.microsoft.com/office/powerpoint/2010/main" val="3930032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8EC6514E-758C-998B-266A-058E3EC299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CA6B98-3CD9-08C2-6C87-129279247C82}"/>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Flip Story</a:t>
            </a:r>
          </a:p>
        </p:txBody>
      </p:sp>
      <p:sp>
        <p:nvSpPr>
          <p:cNvPr id="4" name="TextBox 3">
            <a:extLst>
              <a:ext uri="{FF2B5EF4-FFF2-40B4-BE49-F238E27FC236}">
                <a16:creationId xmlns:a16="http://schemas.microsoft.com/office/drawing/2014/main" id="{63B06691-CDB7-ACF7-97E6-EC1A5DB26128}"/>
              </a:ext>
            </a:extLst>
          </p:cNvPr>
          <p:cNvSpPr txBox="1"/>
          <p:nvPr/>
        </p:nvSpPr>
        <p:spPr>
          <a:xfrm>
            <a:off x="6292645" y="341689"/>
            <a:ext cx="5385621"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The Capital Rejected Its Own Government</a:t>
            </a:r>
            <a:endParaRPr lang="en-IN" sz="2000" b="1" dirty="0">
              <a:solidFill>
                <a:srgbClr val="FAF9F5"/>
              </a:solidFill>
              <a:latin typeface="Avenir Next LT Pro" panose="020B0504020202020204" pitchFamily="34" charset="0"/>
            </a:endParaRPr>
          </a:p>
        </p:txBody>
      </p:sp>
      <p:sp>
        <p:nvSpPr>
          <p:cNvPr id="9" name="TextBox 8">
            <a:extLst>
              <a:ext uri="{FF2B5EF4-FFF2-40B4-BE49-F238E27FC236}">
                <a16:creationId xmlns:a16="http://schemas.microsoft.com/office/drawing/2014/main" id="{25952AE9-BF72-43B3-206C-D8E6F7728FEC}"/>
              </a:ext>
            </a:extLst>
          </p:cNvPr>
          <p:cNvSpPr txBox="1"/>
          <p:nvPr/>
        </p:nvSpPr>
        <p:spPr>
          <a:xfrm>
            <a:off x="513733" y="5223517"/>
            <a:ext cx="7821565" cy="954107"/>
          </a:xfrm>
          <a:prstGeom prst="rect">
            <a:avLst/>
          </a:prstGeom>
          <a:noFill/>
        </p:spPr>
        <p:txBody>
          <a:bodyPr wrap="square" rtlCol="0">
            <a:spAutoFit/>
          </a:bodyPr>
          <a:lstStyle/>
          <a:p>
            <a:r>
              <a:rPr lang="en-US" sz="2400" b="1" dirty="0">
                <a:solidFill>
                  <a:srgbClr val="92D050"/>
                </a:solidFill>
                <a:latin typeface="Avenir Next LT Pro" panose="020B0504020202020204" pitchFamily="34" charset="0"/>
              </a:rPr>
              <a:t>30 of 32 </a:t>
            </a:r>
            <a:r>
              <a:rPr lang="en-US" sz="2400" b="1" dirty="0">
                <a:solidFill>
                  <a:srgbClr val="FAF9F5"/>
                </a:solidFill>
                <a:latin typeface="Avenir Next LT Pro" panose="020B0504020202020204" pitchFamily="34" charset="0"/>
              </a:rPr>
              <a:t>Chennai Seats Changed Hands which is nearly </a:t>
            </a:r>
            <a:r>
              <a:rPr lang="en-US" sz="3200" b="1" dirty="0">
                <a:solidFill>
                  <a:srgbClr val="92D050"/>
                </a:solidFill>
                <a:latin typeface="Avenir Next LT Pro" panose="020B0504020202020204" pitchFamily="34" charset="0"/>
              </a:rPr>
              <a:t>93.75%</a:t>
            </a:r>
            <a:endParaRPr lang="en-IN" sz="2400" b="1" dirty="0">
              <a:solidFill>
                <a:srgbClr val="92D050"/>
              </a:solidFill>
              <a:latin typeface="Avenir Next LT Pro" panose="020B0504020202020204" pitchFamily="34" charset="0"/>
            </a:endParaRPr>
          </a:p>
        </p:txBody>
      </p:sp>
      <p:pic>
        <p:nvPicPr>
          <p:cNvPr id="6" name="Picture 5">
            <a:extLst>
              <a:ext uri="{FF2B5EF4-FFF2-40B4-BE49-F238E27FC236}">
                <a16:creationId xmlns:a16="http://schemas.microsoft.com/office/drawing/2014/main" id="{12839F23-E795-D1A9-7C4E-ABAEC1BB4B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44" y="1634201"/>
            <a:ext cx="12109656" cy="2681525"/>
          </a:xfrm>
          <a:prstGeom prst="rect">
            <a:avLst/>
          </a:prstGeom>
        </p:spPr>
      </p:pic>
      <p:pic>
        <p:nvPicPr>
          <p:cNvPr id="5" name="Picture 4">
            <a:extLst>
              <a:ext uri="{FF2B5EF4-FFF2-40B4-BE49-F238E27FC236}">
                <a16:creationId xmlns:a16="http://schemas.microsoft.com/office/drawing/2014/main" id="{7801FEA0-CCB6-5EED-94CA-2351DC0F0FB6}"/>
              </a:ext>
            </a:extLst>
          </p:cNvPr>
          <p:cNvPicPr>
            <a:picLocks noChangeAspect="1"/>
          </p:cNvPicPr>
          <p:nvPr/>
        </p:nvPicPr>
        <p:blipFill>
          <a:blip r:embed="rId3"/>
          <a:stretch>
            <a:fillRect/>
          </a:stretch>
        </p:blipFill>
        <p:spPr>
          <a:xfrm>
            <a:off x="12353949" y="4171585"/>
            <a:ext cx="3276884" cy="2309060"/>
          </a:xfrm>
          <a:prstGeom prst="rect">
            <a:avLst/>
          </a:prstGeom>
        </p:spPr>
      </p:pic>
    </p:spTree>
    <p:extLst>
      <p:ext uri="{BB962C8B-B14F-4D97-AF65-F5344CB8AC3E}">
        <p14:creationId xmlns:p14="http://schemas.microsoft.com/office/powerpoint/2010/main" val="2089211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0B2A5B70-D2F2-D62D-2DA7-EE4C019AD5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59143D-524A-95C0-339F-7517917CF651}"/>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Flip Story</a:t>
            </a:r>
          </a:p>
        </p:txBody>
      </p:sp>
      <p:sp>
        <p:nvSpPr>
          <p:cNvPr id="4" name="TextBox 3">
            <a:extLst>
              <a:ext uri="{FF2B5EF4-FFF2-40B4-BE49-F238E27FC236}">
                <a16:creationId xmlns:a16="http://schemas.microsoft.com/office/drawing/2014/main" id="{79AE1B4F-D36A-37D2-1C84-69587D2E8453}"/>
              </a:ext>
            </a:extLst>
          </p:cNvPr>
          <p:cNvSpPr txBox="1"/>
          <p:nvPr/>
        </p:nvSpPr>
        <p:spPr>
          <a:xfrm>
            <a:off x="8170606" y="341689"/>
            <a:ext cx="3507660"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TVK, The Great Absorber</a:t>
            </a:r>
            <a:endParaRPr lang="en-IN" sz="2000" b="1" dirty="0">
              <a:solidFill>
                <a:srgbClr val="FAF9F5"/>
              </a:solidFill>
              <a:latin typeface="Avenir Next LT Pro" panose="020B0504020202020204" pitchFamily="34" charset="0"/>
            </a:endParaRPr>
          </a:p>
        </p:txBody>
      </p:sp>
      <p:sp>
        <p:nvSpPr>
          <p:cNvPr id="9" name="TextBox 8">
            <a:extLst>
              <a:ext uri="{FF2B5EF4-FFF2-40B4-BE49-F238E27FC236}">
                <a16:creationId xmlns:a16="http://schemas.microsoft.com/office/drawing/2014/main" id="{4071F5C8-1AE0-47ED-89FB-7884D5472611}"/>
              </a:ext>
            </a:extLst>
          </p:cNvPr>
          <p:cNvSpPr txBox="1"/>
          <p:nvPr/>
        </p:nvSpPr>
        <p:spPr>
          <a:xfrm>
            <a:off x="3856701" y="5208127"/>
            <a:ext cx="7821565" cy="954107"/>
          </a:xfrm>
          <a:prstGeom prst="rect">
            <a:avLst/>
          </a:prstGeom>
          <a:noFill/>
        </p:spPr>
        <p:txBody>
          <a:bodyPr wrap="square" rtlCol="0">
            <a:spAutoFit/>
          </a:bodyPr>
          <a:lstStyle/>
          <a:p>
            <a:pPr algn="r"/>
            <a:r>
              <a:rPr lang="en-US" sz="2400" b="1" dirty="0">
                <a:solidFill>
                  <a:srgbClr val="FAF9F5"/>
                </a:solidFill>
                <a:latin typeface="Avenir Next LT Pro" panose="020B0504020202020204" pitchFamily="34" charset="0"/>
              </a:rPr>
              <a:t>TVK captured </a:t>
            </a:r>
            <a:r>
              <a:rPr lang="en-US" sz="2400" b="1" dirty="0">
                <a:solidFill>
                  <a:srgbClr val="92D050"/>
                </a:solidFill>
                <a:latin typeface="Avenir Next LT Pro" panose="020B0504020202020204" pitchFamily="34" charset="0"/>
              </a:rPr>
              <a:t>2 out of every 3 </a:t>
            </a:r>
            <a:r>
              <a:rPr lang="en-US" sz="2400" b="1" dirty="0">
                <a:solidFill>
                  <a:srgbClr val="FAF9F5"/>
                </a:solidFill>
                <a:latin typeface="Avenir Next LT Pro" panose="020B0504020202020204" pitchFamily="34" charset="0"/>
              </a:rPr>
              <a:t>flipped seats which is nearly </a:t>
            </a:r>
            <a:r>
              <a:rPr lang="en-US" sz="3200" b="1" dirty="0">
                <a:solidFill>
                  <a:srgbClr val="92D050"/>
                </a:solidFill>
                <a:latin typeface="Avenir Next LT Pro" panose="020B0504020202020204" pitchFamily="34" charset="0"/>
              </a:rPr>
              <a:t>66.3% </a:t>
            </a:r>
            <a:r>
              <a:rPr lang="en-US" sz="2400" b="1" dirty="0">
                <a:solidFill>
                  <a:srgbClr val="FAF9F5"/>
                </a:solidFill>
                <a:latin typeface="Avenir Next LT Pro" panose="020B0504020202020204" pitchFamily="34" charset="0"/>
              </a:rPr>
              <a:t>of flipped seats</a:t>
            </a:r>
            <a:endParaRPr lang="en-IN" sz="2400" b="1" dirty="0">
              <a:solidFill>
                <a:srgbClr val="FAF9F5"/>
              </a:solidFill>
              <a:latin typeface="Avenir Next LT Pro" panose="020B0504020202020204" pitchFamily="34" charset="0"/>
            </a:endParaRPr>
          </a:p>
        </p:txBody>
      </p:sp>
      <p:pic>
        <p:nvPicPr>
          <p:cNvPr id="5" name="Picture 4">
            <a:extLst>
              <a:ext uri="{FF2B5EF4-FFF2-40B4-BE49-F238E27FC236}">
                <a16:creationId xmlns:a16="http://schemas.microsoft.com/office/drawing/2014/main" id="{967AE785-5F32-8E1D-F1C5-3C6527AF69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3559" y="1308088"/>
            <a:ext cx="6419850" cy="3333750"/>
          </a:xfrm>
          <a:prstGeom prst="rect">
            <a:avLst/>
          </a:prstGeom>
        </p:spPr>
      </p:pic>
    </p:spTree>
    <p:extLst>
      <p:ext uri="{BB962C8B-B14F-4D97-AF65-F5344CB8AC3E}">
        <p14:creationId xmlns:p14="http://schemas.microsoft.com/office/powerpoint/2010/main" val="527891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705FA3AD-DF94-D835-8DE5-5E27D1DE5C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4DF9D52-E6B3-981A-3323-3B0B510546A8}"/>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Flip Story</a:t>
            </a:r>
          </a:p>
        </p:txBody>
      </p:sp>
      <p:sp>
        <p:nvSpPr>
          <p:cNvPr id="4" name="TextBox 3">
            <a:extLst>
              <a:ext uri="{FF2B5EF4-FFF2-40B4-BE49-F238E27FC236}">
                <a16:creationId xmlns:a16="http://schemas.microsoft.com/office/drawing/2014/main" id="{7BB3CBC6-60CD-C1E8-FDED-7A3C35D338A1}"/>
              </a:ext>
            </a:extLst>
          </p:cNvPr>
          <p:cNvSpPr txBox="1"/>
          <p:nvPr/>
        </p:nvSpPr>
        <p:spPr>
          <a:xfrm>
            <a:off x="3824748" y="341689"/>
            <a:ext cx="7987611"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The Chief Minister's own constituency. Kolathur. Gone to TVK</a:t>
            </a:r>
            <a:endParaRPr lang="en-IN" sz="2000" b="1" dirty="0">
              <a:solidFill>
                <a:srgbClr val="FAF9F5"/>
              </a:solidFill>
              <a:latin typeface="Avenir Next LT Pro" panose="020B0504020202020204" pitchFamily="34" charset="0"/>
            </a:endParaRPr>
          </a:p>
        </p:txBody>
      </p:sp>
      <p:sp>
        <p:nvSpPr>
          <p:cNvPr id="9" name="TextBox 8">
            <a:extLst>
              <a:ext uri="{FF2B5EF4-FFF2-40B4-BE49-F238E27FC236}">
                <a16:creationId xmlns:a16="http://schemas.microsoft.com/office/drawing/2014/main" id="{BAE21C9C-0BB2-A819-9F29-3C47AC00BCF9}"/>
              </a:ext>
            </a:extLst>
          </p:cNvPr>
          <p:cNvSpPr txBox="1"/>
          <p:nvPr/>
        </p:nvSpPr>
        <p:spPr>
          <a:xfrm>
            <a:off x="7153013" y="2039334"/>
            <a:ext cx="4659346" cy="954107"/>
          </a:xfrm>
          <a:prstGeom prst="rect">
            <a:avLst/>
          </a:prstGeom>
          <a:noFill/>
        </p:spPr>
        <p:txBody>
          <a:bodyPr wrap="square" rtlCol="0">
            <a:spAutoFit/>
          </a:bodyPr>
          <a:lstStyle/>
          <a:p>
            <a:pPr algn="r"/>
            <a:r>
              <a:rPr lang="en-IN" sz="2400" b="1" dirty="0">
                <a:solidFill>
                  <a:schemeClr val="bg1">
                    <a:lumMod val="95000"/>
                  </a:schemeClr>
                </a:solidFill>
                <a:latin typeface="Avenir Next LT Pro" panose="020B0504020202020204" pitchFamily="34" charset="0"/>
              </a:rPr>
              <a:t>From winning in </a:t>
            </a:r>
            <a:r>
              <a:rPr lang="en-IN" sz="3200" b="1" dirty="0">
                <a:solidFill>
                  <a:srgbClr val="92D050"/>
                </a:solidFill>
                <a:latin typeface="Avenir Next LT Pro" panose="020B0504020202020204" pitchFamily="34" charset="0"/>
              </a:rPr>
              <a:t>70,384</a:t>
            </a:r>
            <a:r>
              <a:rPr lang="en-IN" sz="2400" b="1" dirty="0">
                <a:solidFill>
                  <a:schemeClr val="bg1">
                    <a:lumMod val="95000"/>
                  </a:schemeClr>
                </a:solidFill>
                <a:latin typeface="Avenir Next LT Pro" panose="020B0504020202020204" pitchFamily="34" charset="0"/>
              </a:rPr>
              <a:t> votes</a:t>
            </a:r>
          </a:p>
        </p:txBody>
      </p:sp>
      <p:pic>
        <p:nvPicPr>
          <p:cNvPr id="11" name="Picture 10">
            <a:extLst>
              <a:ext uri="{FF2B5EF4-FFF2-40B4-BE49-F238E27FC236}">
                <a16:creationId xmlns:a16="http://schemas.microsoft.com/office/drawing/2014/main" id="{D4B25BDD-EDC6-EAD5-0824-16B34B163E67}"/>
              </a:ext>
            </a:extLst>
          </p:cNvPr>
          <p:cNvPicPr>
            <a:picLocks noChangeAspect="1"/>
          </p:cNvPicPr>
          <p:nvPr/>
        </p:nvPicPr>
        <p:blipFill>
          <a:blip r:embed="rId2"/>
          <a:stretch>
            <a:fillRect/>
          </a:stretch>
        </p:blipFill>
        <p:spPr>
          <a:xfrm>
            <a:off x="576383" y="1975321"/>
            <a:ext cx="6683319" cy="1082134"/>
          </a:xfrm>
          <a:prstGeom prst="rect">
            <a:avLst/>
          </a:prstGeom>
        </p:spPr>
      </p:pic>
      <p:pic>
        <p:nvPicPr>
          <p:cNvPr id="13" name="Picture 12">
            <a:extLst>
              <a:ext uri="{FF2B5EF4-FFF2-40B4-BE49-F238E27FC236}">
                <a16:creationId xmlns:a16="http://schemas.microsoft.com/office/drawing/2014/main" id="{B2A41C1E-C460-3A3D-8345-7411752DC3B1}"/>
              </a:ext>
            </a:extLst>
          </p:cNvPr>
          <p:cNvPicPr>
            <a:picLocks noChangeAspect="1"/>
          </p:cNvPicPr>
          <p:nvPr/>
        </p:nvPicPr>
        <p:blipFill>
          <a:blip r:embed="rId3"/>
          <a:stretch>
            <a:fillRect/>
          </a:stretch>
        </p:blipFill>
        <p:spPr>
          <a:xfrm>
            <a:off x="576383" y="4178547"/>
            <a:ext cx="6576630" cy="1120237"/>
          </a:xfrm>
          <a:prstGeom prst="rect">
            <a:avLst/>
          </a:prstGeom>
        </p:spPr>
      </p:pic>
      <p:sp>
        <p:nvSpPr>
          <p:cNvPr id="14" name="TextBox 13">
            <a:extLst>
              <a:ext uri="{FF2B5EF4-FFF2-40B4-BE49-F238E27FC236}">
                <a16:creationId xmlns:a16="http://schemas.microsoft.com/office/drawing/2014/main" id="{11C08BD3-24D6-70E8-882B-6C689E0E4DF4}"/>
              </a:ext>
            </a:extLst>
          </p:cNvPr>
          <p:cNvSpPr txBox="1"/>
          <p:nvPr/>
        </p:nvSpPr>
        <p:spPr>
          <a:xfrm>
            <a:off x="7407187" y="4446277"/>
            <a:ext cx="4405172" cy="584775"/>
          </a:xfrm>
          <a:prstGeom prst="rect">
            <a:avLst/>
          </a:prstGeom>
          <a:noFill/>
        </p:spPr>
        <p:txBody>
          <a:bodyPr wrap="square" rtlCol="0">
            <a:spAutoFit/>
          </a:bodyPr>
          <a:lstStyle/>
          <a:p>
            <a:pPr algn="r"/>
            <a:r>
              <a:rPr lang="en-IN" sz="2400" b="1" dirty="0">
                <a:solidFill>
                  <a:schemeClr val="bg1">
                    <a:lumMod val="95000"/>
                  </a:schemeClr>
                </a:solidFill>
                <a:latin typeface="Avenir Next LT Pro" panose="020B0504020202020204" pitchFamily="34" charset="0"/>
              </a:rPr>
              <a:t>To loosing in </a:t>
            </a:r>
            <a:r>
              <a:rPr lang="en-IN" sz="3200" b="1" dirty="0">
                <a:solidFill>
                  <a:srgbClr val="FF0000"/>
                </a:solidFill>
                <a:latin typeface="Avenir Next LT Pro" panose="020B0504020202020204" pitchFamily="34" charset="0"/>
              </a:rPr>
              <a:t>8,795</a:t>
            </a:r>
            <a:r>
              <a:rPr lang="en-IN" sz="2400" b="1" dirty="0">
                <a:solidFill>
                  <a:schemeClr val="bg1">
                    <a:lumMod val="95000"/>
                  </a:schemeClr>
                </a:solidFill>
                <a:latin typeface="Avenir Next LT Pro" panose="020B0504020202020204" pitchFamily="34" charset="0"/>
              </a:rPr>
              <a:t> votes</a:t>
            </a:r>
          </a:p>
        </p:txBody>
      </p:sp>
      <p:sp>
        <p:nvSpPr>
          <p:cNvPr id="15" name="TextBox 14">
            <a:extLst>
              <a:ext uri="{FF2B5EF4-FFF2-40B4-BE49-F238E27FC236}">
                <a16:creationId xmlns:a16="http://schemas.microsoft.com/office/drawing/2014/main" id="{BD3A48D6-3963-8B31-4954-A8FA1A584945}"/>
              </a:ext>
            </a:extLst>
          </p:cNvPr>
          <p:cNvSpPr txBox="1"/>
          <p:nvPr/>
        </p:nvSpPr>
        <p:spPr>
          <a:xfrm>
            <a:off x="513734" y="1513656"/>
            <a:ext cx="1059429" cy="461665"/>
          </a:xfrm>
          <a:prstGeom prst="rect">
            <a:avLst/>
          </a:prstGeom>
          <a:noFill/>
        </p:spPr>
        <p:txBody>
          <a:bodyPr wrap="square" rtlCol="0">
            <a:spAutoFit/>
          </a:bodyPr>
          <a:lstStyle/>
          <a:p>
            <a:pPr algn="r"/>
            <a:r>
              <a:rPr lang="en-IN" sz="2400" b="1" dirty="0">
                <a:solidFill>
                  <a:schemeClr val="bg1">
                    <a:lumMod val="95000"/>
                  </a:schemeClr>
                </a:solidFill>
                <a:latin typeface="Avenir Next LT Pro" panose="020B0504020202020204" pitchFamily="34" charset="0"/>
              </a:rPr>
              <a:t>2021</a:t>
            </a:r>
          </a:p>
        </p:txBody>
      </p:sp>
      <p:sp>
        <p:nvSpPr>
          <p:cNvPr id="16" name="TextBox 15">
            <a:extLst>
              <a:ext uri="{FF2B5EF4-FFF2-40B4-BE49-F238E27FC236}">
                <a16:creationId xmlns:a16="http://schemas.microsoft.com/office/drawing/2014/main" id="{4BCE66FF-74A4-011E-396C-D0EC6B24E8ED}"/>
              </a:ext>
            </a:extLst>
          </p:cNvPr>
          <p:cNvSpPr txBox="1"/>
          <p:nvPr/>
        </p:nvSpPr>
        <p:spPr>
          <a:xfrm>
            <a:off x="513733" y="3586153"/>
            <a:ext cx="1059429" cy="461665"/>
          </a:xfrm>
          <a:prstGeom prst="rect">
            <a:avLst/>
          </a:prstGeom>
          <a:noFill/>
        </p:spPr>
        <p:txBody>
          <a:bodyPr wrap="square" rtlCol="0">
            <a:spAutoFit/>
          </a:bodyPr>
          <a:lstStyle/>
          <a:p>
            <a:pPr algn="r"/>
            <a:r>
              <a:rPr lang="en-IN" sz="2400" b="1" dirty="0">
                <a:solidFill>
                  <a:schemeClr val="bg1">
                    <a:lumMod val="95000"/>
                  </a:schemeClr>
                </a:solidFill>
                <a:latin typeface="Avenir Next LT Pro" panose="020B0504020202020204" pitchFamily="34" charset="0"/>
              </a:rPr>
              <a:t>2026</a:t>
            </a:r>
          </a:p>
        </p:txBody>
      </p:sp>
    </p:spTree>
    <p:extLst>
      <p:ext uri="{BB962C8B-B14F-4D97-AF65-F5344CB8AC3E}">
        <p14:creationId xmlns:p14="http://schemas.microsoft.com/office/powerpoint/2010/main" val="3451896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7D419A6D-EBEC-9E50-FFC7-0DC773C415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A747E7-930E-E0F2-5562-F7DE0FD12C3D}"/>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Flip Story</a:t>
            </a:r>
          </a:p>
        </p:txBody>
      </p:sp>
      <p:sp>
        <p:nvSpPr>
          <p:cNvPr id="4" name="TextBox 3">
            <a:extLst>
              <a:ext uri="{FF2B5EF4-FFF2-40B4-BE49-F238E27FC236}">
                <a16:creationId xmlns:a16="http://schemas.microsoft.com/office/drawing/2014/main" id="{7D747221-7E38-483B-FA04-BA9910FA9083}"/>
              </a:ext>
            </a:extLst>
          </p:cNvPr>
          <p:cNvSpPr txBox="1"/>
          <p:nvPr/>
        </p:nvSpPr>
        <p:spPr>
          <a:xfrm>
            <a:off x="8318090" y="341689"/>
            <a:ext cx="3360176"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The Great Flips and Flows</a:t>
            </a:r>
            <a:endParaRPr lang="en-IN" sz="2000" b="1" dirty="0">
              <a:solidFill>
                <a:srgbClr val="FAF9F5"/>
              </a:solidFill>
              <a:latin typeface="Avenir Next LT Pro" panose="020B0504020202020204" pitchFamily="34" charset="0"/>
            </a:endParaRPr>
          </a:p>
        </p:txBody>
      </p:sp>
      <p:pic>
        <p:nvPicPr>
          <p:cNvPr id="6" name="Picture 5">
            <a:extLst>
              <a:ext uri="{FF2B5EF4-FFF2-40B4-BE49-F238E27FC236}">
                <a16:creationId xmlns:a16="http://schemas.microsoft.com/office/drawing/2014/main" id="{C97D017C-9AA8-5CF1-F309-B9CDE73750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1209"/>
            <a:ext cx="12192000" cy="4469208"/>
          </a:xfrm>
          <a:prstGeom prst="rect">
            <a:avLst/>
          </a:prstGeom>
        </p:spPr>
      </p:pic>
      <p:sp>
        <p:nvSpPr>
          <p:cNvPr id="3" name="TextBox 2">
            <a:extLst>
              <a:ext uri="{FF2B5EF4-FFF2-40B4-BE49-F238E27FC236}">
                <a16:creationId xmlns:a16="http://schemas.microsoft.com/office/drawing/2014/main" id="{090C2232-212F-BEA3-DD4A-08C488CDCE50}"/>
              </a:ext>
            </a:extLst>
          </p:cNvPr>
          <p:cNvSpPr txBox="1"/>
          <p:nvPr/>
        </p:nvSpPr>
        <p:spPr>
          <a:xfrm>
            <a:off x="3581398" y="5850417"/>
            <a:ext cx="7821565" cy="461665"/>
          </a:xfrm>
          <a:prstGeom prst="rect">
            <a:avLst/>
          </a:prstGeom>
          <a:noFill/>
        </p:spPr>
        <p:txBody>
          <a:bodyPr wrap="square" rtlCol="0">
            <a:spAutoFit/>
          </a:bodyPr>
          <a:lstStyle/>
          <a:p>
            <a:pPr algn="r"/>
            <a:r>
              <a:rPr lang="en-IN" sz="2400" b="1" dirty="0">
                <a:solidFill>
                  <a:srgbClr val="FAF9F5"/>
                </a:solidFill>
                <a:latin typeface="Avenir Next LT Pro" panose="020B0504020202020204" pitchFamily="34" charset="0"/>
              </a:rPr>
              <a:t>Most of the parties </a:t>
            </a:r>
            <a:r>
              <a:rPr lang="en-IN" sz="2400" b="1" dirty="0">
                <a:solidFill>
                  <a:srgbClr val="92D050"/>
                </a:solidFill>
                <a:latin typeface="Avenir Next LT Pro" panose="020B0504020202020204" pitchFamily="34" charset="0"/>
              </a:rPr>
              <a:t>contributed</a:t>
            </a:r>
            <a:r>
              <a:rPr lang="en-IN" sz="2400" b="1" dirty="0">
                <a:solidFill>
                  <a:srgbClr val="FAF9F5"/>
                </a:solidFill>
                <a:latin typeface="Avenir Next LT Pro" panose="020B0504020202020204" pitchFamily="34" charset="0"/>
              </a:rPr>
              <a:t> seats to  TVK</a:t>
            </a:r>
          </a:p>
        </p:txBody>
      </p:sp>
    </p:spTree>
    <p:extLst>
      <p:ext uri="{BB962C8B-B14F-4D97-AF65-F5344CB8AC3E}">
        <p14:creationId xmlns:p14="http://schemas.microsoft.com/office/powerpoint/2010/main" val="2205847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56A93C96-797F-BBA6-BF26-7125944D56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3B93F5-1C4D-E3ED-9BA7-2AFB9512E9C2}"/>
              </a:ext>
            </a:extLst>
          </p:cNvPr>
          <p:cNvSpPr txBox="1"/>
          <p:nvPr/>
        </p:nvSpPr>
        <p:spPr>
          <a:xfrm>
            <a:off x="1646903" y="3075057"/>
            <a:ext cx="8898194" cy="707886"/>
          </a:xfrm>
          <a:prstGeom prst="rect">
            <a:avLst/>
          </a:prstGeom>
          <a:noFill/>
        </p:spPr>
        <p:txBody>
          <a:bodyPr wrap="square" rtlCol="0">
            <a:spAutoFit/>
          </a:bodyPr>
          <a:lstStyle/>
          <a:p>
            <a:r>
              <a:rPr lang="en-IN" sz="4000" dirty="0">
                <a:solidFill>
                  <a:schemeClr val="bg1">
                    <a:lumMod val="95000"/>
                  </a:schemeClr>
                </a:solidFill>
                <a:latin typeface="Avenir Next LT Pro" panose="020B0504020202020204" pitchFamily="34" charset="0"/>
              </a:rPr>
              <a:t>Could a new party really rise this fast?</a:t>
            </a:r>
          </a:p>
        </p:txBody>
      </p:sp>
    </p:spTree>
    <p:extLst>
      <p:ext uri="{BB962C8B-B14F-4D97-AF65-F5344CB8AC3E}">
        <p14:creationId xmlns:p14="http://schemas.microsoft.com/office/powerpoint/2010/main" val="837721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2A555E06-790D-8FEB-A696-8D2B8F03E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C2ECA8-1E6B-DEC7-A060-C6A9579F45B1}"/>
              </a:ext>
            </a:extLst>
          </p:cNvPr>
          <p:cNvSpPr txBox="1"/>
          <p:nvPr/>
        </p:nvSpPr>
        <p:spPr>
          <a:xfrm>
            <a:off x="513734" y="357078"/>
            <a:ext cx="2435944"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Vote Share Story</a:t>
            </a:r>
          </a:p>
        </p:txBody>
      </p:sp>
      <p:sp>
        <p:nvSpPr>
          <p:cNvPr id="4" name="TextBox 3">
            <a:extLst>
              <a:ext uri="{FF2B5EF4-FFF2-40B4-BE49-F238E27FC236}">
                <a16:creationId xmlns:a16="http://schemas.microsoft.com/office/drawing/2014/main" id="{41F40B20-F791-EC37-E1E1-4892BC0DBD7B}"/>
              </a:ext>
            </a:extLst>
          </p:cNvPr>
          <p:cNvSpPr txBox="1"/>
          <p:nvPr/>
        </p:nvSpPr>
        <p:spPr>
          <a:xfrm>
            <a:off x="7423355" y="341689"/>
            <a:ext cx="4254911"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Meteoric Rise of an Unseen Party</a:t>
            </a:r>
            <a:endParaRPr lang="en-IN" sz="2000" b="1" dirty="0">
              <a:solidFill>
                <a:srgbClr val="FAF9F5"/>
              </a:solidFill>
              <a:latin typeface="Avenir Next LT Pro" panose="020B0504020202020204" pitchFamily="34" charset="0"/>
            </a:endParaRPr>
          </a:p>
        </p:txBody>
      </p:sp>
      <p:grpSp>
        <p:nvGrpSpPr>
          <p:cNvPr id="11" name="Group 10">
            <a:extLst>
              <a:ext uri="{FF2B5EF4-FFF2-40B4-BE49-F238E27FC236}">
                <a16:creationId xmlns:a16="http://schemas.microsoft.com/office/drawing/2014/main" id="{4F701594-D948-4D9F-9ED2-8DFBFC246629}"/>
              </a:ext>
            </a:extLst>
          </p:cNvPr>
          <p:cNvGrpSpPr/>
          <p:nvPr/>
        </p:nvGrpSpPr>
        <p:grpSpPr>
          <a:xfrm>
            <a:off x="4316360" y="1445341"/>
            <a:ext cx="7446708" cy="4553072"/>
            <a:chOff x="1047442" y="1106129"/>
            <a:chExt cx="8493536" cy="4921782"/>
          </a:xfrm>
        </p:grpSpPr>
        <p:pic>
          <p:nvPicPr>
            <p:cNvPr id="8" name="Picture 7">
              <a:extLst>
                <a:ext uri="{FF2B5EF4-FFF2-40B4-BE49-F238E27FC236}">
                  <a16:creationId xmlns:a16="http://schemas.microsoft.com/office/drawing/2014/main" id="{69463936-1672-BE3B-3C2A-FAED811A78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442" y="1106129"/>
              <a:ext cx="8293203" cy="4921782"/>
            </a:xfrm>
            <a:prstGeom prst="rect">
              <a:avLst/>
            </a:prstGeom>
          </p:spPr>
        </p:pic>
        <p:pic>
          <p:nvPicPr>
            <p:cNvPr id="10" name="Picture 9">
              <a:extLst>
                <a:ext uri="{FF2B5EF4-FFF2-40B4-BE49-F238E27FC236}">
                  <a16:creationId xmlns:a16="http://schemas.microsoft.com/office/drawing/2014/main" id="{4C6DFFE3-6F7F-226F-7D0C-F56EC184A9A4}"/>
                </a:ext>
              </a:extLst>
            </p:cNvPr>
            <p:cNvPicPr>
              <a:picLocks noChangeAspect="1"/>
            </p:cNvPicPr>
            <p:nvPr/>
          </p:nvPicPr>
          <p:blipFill>
            <a:blip r:embed="rId3">
              <a:extLst>
                <a:ext uri="{28A0092B-C50C-407E-A947-70E740481C1C}">
                  <a14:useLocalDpi xmlns:a14="http://schemas.microsoft.com/office/drawing/2010/main" val="0"/>
                </a:ext>
              </a:extLst>
            </a:blip>
            <a:srcRect l="68882" r="15231" b="9504"/>
            <a:stretch>
              <a:fillRect/>
            </a:stretch>
          </p:blipFill>
          <p:spPr>
            <a:xfrm>
              <a:off x="8223455" y="1111686"/>
              <a:ext cx="1317523" cy="4454013"/>
            </a:xfrm>
            <a:prstGeom prst="rect">
              <a:avLst/>
            </a:prstGeom>
          </p:spPr>
        </p:pic>
      </p:grpSp>
      <p:sp>
        <p:nvSpPr>
          <p:cNvPr id="3" name="TextBox 2">
            <a:extLst>
              <a:ext uri="{FF2B5EF4-FFF2-40B4-BE49-F238E27FC236}">
                <a16:creationId xmlns:a16="http://schemas.microsoft.com/office/drawing/2014/main" id="{971DF574-A3A0-59FD-29A8-800873999D18}"/>
              </a:ext>
            </a:extLst>
          </p:cNvPr>
          <p:cNvSpPr txBox="1"/>
          <p:nvPr/>
        </p:nvSpPr>
        <p:spPr>
          <a:xfrm>
            <a:off x="513734" y="1883226"/>
            <a:ext cx="3455928" cy="1323439"/>
          </a:xfrm>
          <a:prstGeom prst="rect">
            <a:avLst/>
          </a:prstGeom>
          <a:noFill/>
        </p:spPr>
        <p:txBody>
          <a:bodyPr wrap="square" rtlCol="0">
            <a:spAutoFit/>
          </a:bodyPr>
          <a:lstStyle/>
          <a:p>
            <a:pPr algn="r"/>
            <a:r>
              <a:rPr lang="en-US" sz="2400" b="1" dirty="0">
                <a:solidFill>
                  <a:srgbClr val="FAF9F5"/>
                </a:solidFill>
                <a:latin typeface="Avenir Next LT Pro" panose="020B0504020202020204" pitchFamily="34" charset="0"/>
              </a:rPr>
              <a:t>From </a:t>
            </a:r>
            <a:r>
              <a:rPr lang="en-US" sz="2400" b="1" dirty="0">
                <a:solidFill>
                  <a:srgbClr val="FF0000"/>
                </a:solidFill>
                <a:latin typeface="Avenir Next LT Pro" panose="020B0504020202020204" pitchFamily="34" charset="0"/>
              </a:rPr>
              <a:t>0</a:t>
            </a:r>
            <a:r>
              <a:rPr lang="en-US" sz="2400" b="1" dirty="0">
                <a:solidFill>
                  <a:srgbClr val="FAF9F5"/>
                </a:solidFill>
                <a:latin typeface="Avenir Next LT Pro" panose="020B0504020202020204" pitchFamily="34" charset="0"/>
              </a:rPr>
              <a:t> in 2021 to a staggering </a:t>
            </a:r>
            <a:r>
              <a:rPr lang="en-US" sz="3200" b="1" dirty="0">
                <a:solidFill>
                  <a:srgbClr val="92D050"/>
                </a:solidFill>
                <a:latin typeface="Avenir Next LT Pro" panose="020B0504020202020204" pitchFamily="34" charset="0"/>
              </a:rPr>
              <a:t>34.92%</a:t>
            </a:r>
            <a:r>
              <a:rPr lang="en-US" sz="2400" b="1" dirty="0">
                <a:solidFill>
                  <a:srgbClr val="FAF9F5"/>
                </a:solidFill>
                <a:latin typeface="Avenir Next LT Pro" panose="020B0504020202020204" pitchFamily="34" charset="0"/>
              </a:rPr>
              <a:t> vote share</a:t>
            </a:r>
            <a:endParaRPr lang="en-IN" sz="2400" b="1" dirty="0">
              <a:solidFill>
                <a:srgbClr val="FAF9F5"/>
              </a:solidFill>
              <a:latin typeface="Avenir Next LT Pro" panose="020B0504020202020204" pitchFamily="34" charset="0"/>
            </a:endParaRPr>
          </a:p>
        </p:txBody>
      </p:sp>
      <p:sp>
        <p:nvSpPr>
          <p:cNvPr id="5" name="TextBox 4">
            <a:extLst>
              <a:ext uri="{FF2B5EF4-FFF2-40B4-BE49-F238E27FC236}">
                <a16:creationId xmlns:a16="http://schemas.microsoft.com/office/drawing/2014/main" id="{06F27B7F-CF79-A844-333F-D9811CC8DCDB}"/>
              </a:ext>
            </a:extLst>
          </p:cNvPr>
          <p:cNvSpPr txBox="1"/>
          <p:nvPr/>
        </p:nvSpPr>
        <p:spPr>
          <a:xfrm>
            <a:off x="513734" y="4055806"/>
            <a:ext cx="3726205" cy="954107"/>
          </a:xfrm>
          <a:prstGeom prst="rect">
            <a:avLst/>
          </a:prstGeom>
          <a:noFill/>
        </p:spPr>
        <p:txBody>
          <a:bodyPr wrap="square" rtlCol="0">
            <a:spAutoFit/>
          </a:bodyPr>
          <a:lstStyle/>
          <a:p>
            <a:pPr algn="r"/>
            <a:r>
              <a:rPr lang="en-US" sz="2400" b="1" dirty="0">
                <a:solidFill>
                  <a:srgbClr val="FAF9F5"/>
                </a:solidFill>
                <a:latin typeface="Avenir Next LT Pro" panose="020B0504020202020204" pitchFamily="34" charset="0"/>
              </a:rPr>
              <a:t>That’s </a:t>
            </a:r>
            <a:r>
              <a:rPr lang="en-IN" sz="3200" b="1" dirty="0">
                <a:solidFill>
                  <a:srgbClr val="92D050"/>
                </a:solidFill>
                <a:latin typeface="Avenir Next LT Pro" panose="020B0504020202020204" pitchFamily="34" charset="0"/>
              </a:rPr>
              <a:t>1,72,26,209 </a:t>
            </a:r>
            <a:r>
              <a:rPr lang="en-IN" sz="2400" b="1" dirty="0">
                <a:solidFill>
                  <a:srgbClr val="FAF9F5"/>
                </a:solidFill>
                <a:latin typeface="Avenir Next LT Pro" panose="020B0504020202020204" pitchFamily="34" charset="0"/>
              </a:rPr>
              <a:t>raw votes </a:t>
            </a:r>
          </a:p>
        </p:txBody>
      </p:sp>
    </p:spTree>
    <p:extLst>
      <p:ext uri="{BB962C8B-B14F-4D97-AF65-F5344CB8AC3E}">
        <p14:creationId xmlns:p14="http://schemas.microsoft.com/office/powerpoint/2010/main" val="1866056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528B165B-B4ED-1203-D073-AB01AE530C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8C2118-0579-C856-8E91-C6374C2DA3E8}"/>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Vote Share Story</a:t>
            </a:r>
          </a:p>
        </p:txBody>
      </p:sp>
      <p:sp>
        <p:nvSpPr>
          <p:cNvPr id="4" name="TextBox 3">
            <a:extLst>
              <a:ext uri="{FF2B5EF4-FFF2-40B4-BE49-F238E27FC236}">
                <a16:creationId xmlns:a16="http://schemas.microsoft.com/office/drawing/2014/main" id="{44642715-4944-23D3-2B77-4044ABA52155}"/>
              </a:ext>
            </a:extLst>
          </p:cNvPr>
          <p:cNvSpPr txBox="1"/>
          <p:nvPr/>
        </p:nvSpPr>
        <p:spPr>
          <a:xfrm>
            <a:off x="5673213" y="403244"/>
            <a:ext cx="5808409"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The </a:t>
            </a:r>
            <a:r>
              <a:rPr lang="en-US" sz="2000" b="1" dirty="0" err="1">
                <a:solidFill>
                  <a:srgbClr val="FAF9F5"/>
                </a:solidFill>
                <a:latin typeface="Avenir Next LT Pro" panose="020B0504020202020204" pitchFamily="34" charset="0"/>
              </a:rPr>
              <a:t>Maths</a:t>
            </a:r>
            <a:r>
              <a:rPr lang="en-US" sz="2000" b="1" dirty="0">
                <a:solidFill>
                  <a:srgbClr val="FAF9F5"/>
                </a:solidFill>
                <a:latin typeface="Avenir Next LT Pro" panose="020B0504020202020204" pitchFamily="34" charset="0"/>
              </a:rPr>
              <a:t> of Who Paid For This, Is Not Subtle</a:t>
            </a:r>
            <a:endParaRPr lang="en-IN" sz="2000" b="1" dirty="0">
              <a:solidFill>
                <a:srgbClr val="FAF9F5"/>
              </a:solidFill>
              <a:latin typeface="Avenir Next LT Pro" panose="020B0504020202020204" pitchFamily="34" charset="0"/>
            </a:endParaRPr>
          </a:p>
        </p:txBody>
      </p:sp>
      <p:pic>
        <p:nvPicPr>
          <p:cNvPr id="5" name="Picture 4">
            <a:extLst>
              <a:ext uri="{FF2B5EF4-FFF2-40B4-BE49-F238E27FC236}">
                <a16:creationId xmlns:a16="http://schemas.microsoft.com/office/drawing/2014/main" id="{C1C8477B-C07C-FEA5-5B7D-7FB3D6513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733" y="2000250"/>
            <a:ext cx="6419850" cy="2857500"/>
          </a:xfrm>
          <a:prstGeom prst="rect">
            <a:avLst/>
          </a:prstGeom>
        </p:spPr>
      </p:pic>
      <p:sp>
        <p:nvSpPr>
          <p:cNvPr id="6" name="TextBox 5">
            <a:extLst>
              <a:ext uri="{FF2B5EF4-FFF2-40B4-BE49-F238E27FC236}">
                <a16:creationId xmlns:a16="http://schemas.microsoft.com/office/drawing/2014/main" id="{8EE9316D-027E-8917-E24E-2D03111F5DE6}"/>
              </a:ext>
            </a:extLst>
          </p:cNvPr>
          <p:cNvSpPr txBox="1"/>
          <p:nvPr/>
        </p:nvSpPr>
        <p:spPr>
          <a:xfrm>
            <a:off x="7600335" y="2690787"/>
            <a:ext cx="4077932" cy="1631216"/>
          </a:xfrm>
          <a:prstGeom prst="rect">
            <a:avLst/>
          </a:prstGeom>
          <a:noFill/>
        </p:spPr>
        <p:txBody>
          <a:bodyPr wrap="square">
            <a:spAutoFit/>
          </a:bodyPr>
          <a:lstStyle/>
          <a:p>
            <a:r>
              <a:rPr lang="en-US" sz="2400" b="1" dirty="0">
                <a:solidFill>
                  <a:srgbClr val="FAF9F5"/>
                </a:solidFill>
                <a:latin typeface="Avenir Next LT Pro" panose="020B0504020202020204" pitchFamily="34" charset="0"/>
              </a:rPr>
              <a:t>Dravidian </a:t>
            </a:r>
            <a:r>
              <a:rPr lang="en-IN" sz="2400" b="1" dirty="0">
                <a:solidFill>
                  <a:srgbClr val="FAF9F5"/>
                </a:solidFill>
                <a:latin typeface="Avenir Next LT Pro" panose="020B0504020202020204" pitchFamily="34" charset="0"/>
              </a:rPr>
              <a:t> party’s haemorrhage of </a:t>
            </a:r>
            <a:r>
              <a:rPr lang="en-US" sz="2800" b="1" dirty="0">
                <a:solidFill>
                  <a:srgbClr val="FF0000"/>
                </a:solidFill>
                <a:latin typeface="Avenir Next LT Pro" panose="020B0504020202020204" pitchFamily="34" charset="0"/>
              </a:rPr>
              <a:t>25.59</a:t>
            </a:r>
            <a:r>
              <a:rPr lang="en-US" sz="2400" b="1" dirty="0">
                <a:solidFill>
                  <a:srgbClr val="FAF9F5"/>
                </a:solidFill>
                <a:latin typeface="Avenir Next LT Pro" panose="020B0504020202020204" pitchFamily="34" charset="0"/>
              </a:rPr>
              <a:t> PP explains </a:t>
            </a:r>
            <a:r>
              <a:rPr lang="en-US" sz="2400" b="1" u="sng" dirty="0">
                <a:solidFill>
                  <a:srgbClr val="FAF9F5"/>
                </a:solidFill>
                <a:latin typeface="Avenir Next LT Pro" panose="020B0504020202020204" pitchFamily="34" charset="0"/>
              </a:rPr>
              <a:t>most</a:t>
            </a:r>
            <a:r>
              <a:rPr lang="en-US" sz="2400" b="1" dirty="0">
                <a:solidFill>
                  <a:srgbClr val="FAF9F5"/>
                </a:solidFill>
                <a:latin typeface="Avenir Next LT Pro" panose="020B0504020202020204" pitchFamily="34" charset="0"/>
              </a:rPr>
              <a:t> of TVK’s gain</a:t>
            </a:r>
            <a:endParaRPr lang="en-IN" sz="2400" b="1" dirty="0">
              <a:solidFill>
                <a:srgbClr val="FAF9F5"/>
              </a:solidFill>
              <a:latin typeface="Avenir Next LT Pro" panose="020B0504020202020204" pitchFamily="34" charset="0"/>
            </a:endParaRPr>
          </a:p>
        </p:txBody>
      </p:sp>
    </p:spTree>
    <p:extLst>
      <p:ext uri="{BB962C8B-B14F-4D97-AF65-F5344CB8AC3E}">
        <p14:creationId xmlns:p14="http://schemas.microsoft.com/office/powerpoint/2010/main" val="1337015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2735785A-F838-B4FA-A3CA-CA91561C0B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C97A6B-8C5B-CA94-F39A-DC0DD9E20865}"/>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Vote Share Story</a:t>
            </a:r>
          </a:p>
        </p:txBody>
      </p:sp>
      <p:sp>
        <p:nvSpPr>
          <p:cNvPr id="4" name="TextBox 3">
            <a:extLst>
              <a:ext uri="{FF2B5EF4-FFF2-40B4-BE49-F238E27FC236}">
                <a16:creationId xmlns:a16="http://schemas.microsoft.com/office/drawing/2014/main" id="{375A7D97-D7CC-7033-255E-9836042438A7}"/>
              </a:ext>
            </a:extLst>
          </p:cNvPr>
          <p:cNvSpPr txBox="1"/>
          <p:nvPr/>
        </p:nvSpPr>
        <p:spPr>
          <a:xfrm>
            <a:off x="5515897" y="341689"/>
            <a:ext cx="6162369"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Not One, Not Once, A Tidal Wave of Same Depth</a:t>
            </a:r>
            <a:endParaRPr lang="en-IN" sz="2000" b="1" dirty="0">
              <a:solidFill>
                <a:srgbClr val="FAF9F5"/>
              </a:solidFill>
              <a:latin typeface="Avenir Next LT Pro" panose="020B0504020202020204" pitchFamily="34" charset="0"/>
            </a:endParaRPr>
          </a:p>
        </p:txBody>
      </p:sp>
      <p:pic>
        <p:nvPicPr>
          <p:cNvPr id="6" name="Picture 5">
            <a:extLst>
              <a:ext uri="{FF2B5EF4-FFF2-40B4-BE49-F238E27FC236}">
                <a16:creationId xmlns:a16="http://schemas.microsoft.com/office/drawing/2014/main" id="{A6FEAB65-29A5-C53C-BB52-8C292EB467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371" y="1783931"/>
            <a:ext cx="7405902" cy="3845795"/>
          </a:xfrm>
          <a:prstGeom prst="rect">
            <a:avLst/>
          </a:prstGeom>
        </p:spPr>
      </p:pic>
      <p:sp>
        <p:nvSpPr>
          <p:cNvPr id="3" name="TextBox 2">
            <a:extLst>
              <a:ext uri="{FF2B5EF4-FFF2-40B4-BE49-F238E27FC236}">
                <a16:creationId xmlns:a16="http://schemas.microsoft.com/office/drawing/2014/main" id="{B00E06F8-2ED3-8D40-0966-1430AE701E3A}"/>
              </a:ext>
            </a:extLst>
          </p:cNvPr>
          <p:cNvSpPr txBox="1"/>
          <p:nvPr/>
        </p:nvSpPr>
        <p:spPr>
          <a:xfrm>
            <a:off x="2078373" y="2729467"/>
            <a:ext cx="624187" cy="261610"/>
          </a:xfrm>
          <a:prstGeom prst="rect">
            <a:avLst/>
          </a:prstGeom>
          <a:noFill/>
        </p:spPr>
        <p:txBody>
          <a:bodyPr wrap="square" rtlCol="0">
            <a:spAutoFit/>
          </a:bodyPr>
          <a:lstStyle/>
          <a:p>
            <a:r>
              <a:rPr lang="en-IN" sz="1100" b="1" dirty="0">
                <a:solidFill>
                  <a:schemeClr val="bg1">
                    <a:lumMod val="95000"/>
                  </a:schemeClr>
                </a:solidFill>
                <a:latin typeface="Avenir Next LT Pro" panose="020B0504020202020204" pitchFamily="34" charset="0"/>
              </a:rPr>
              <a:t>31.02</a:t>
            </a:r>
            <a:endParaRPr lang="en-IN" sz="1400" b="1" dirty="0">
              <a:solidFill>
                <a:schemeClr val="bg1">
                  <a:lumMod val="95000"/>
                </a:schemeClr>
              </a:solidFill>
              <a:latin typeface="Avenir Next LT Pro" panose="020B0504020202020204" pitchFamily="34" charset="0"/>
            </a:endParaRPr>
          </a:p>
        </p:txBody>
      </p:sp>
      <p:sp>
        <p:nvSpPr>
          <p:cNvPr id="5" name="TextBox 4">
            <a:extLst>
              <a:ext uri="{FF2B5EF4-FFF2-40B4-BE49-F238E27FC236}">
                <a16:creationId xmlns:a16="http://schemas.microsoft.com/office/drawing/2014/main" id="{9C4F359E-730D-555E-1A8C-4B6449279D71}"/>
              </a:ext>
            </a:extLst>
          </p:cNvPr>
          <p:cNvSpPr txBox="1"/>
          <p:nvPr/>
        </p:nvSpPr>
        <p:spPr>
          <a:xfrm>
            <a:off x="3013093" y="1768542"/>
            <a:ext cx="624187" cy="261610"/>
          </a:xfrm>
          <a:prstGeom prst="rect">
            <a:avLst/>
          </a:prstGeom>
          <a:noFill/>
        </p:spPr>
        <p:txBody>
          <a:bodyPr wrap="square" rtlCol="0">
            <a:spAutoFit/>
          </a:bodyPr>
          <a:lstStyle/>
          <a:p>
            <a:r>
              <a:rPr lang="en-IN" sz="1100" b="1" dirty="0">
                <a:solidFill>
                  <a:schemeClr val="bg1">
                    <a:lumMod val="95000"/>
                  </a:schemeClr>
                </a:solidFill>
                <a:latin typeface="Avenir Next LT Pro" panose="020B0504020202020204" pitchFamily="34" charset="0"/>
              </a:rPr>
              <a:t>46.63</a:t>
            </a:r>
            <a:endParaRPr lang="en-IN" sz="1400" b="1" dirty="0">
              <a:solidFill>
                <a:schemeClr val="bg1">
                  <a:lumMod val="95000"/>
                </a:schemeClr>
              </a:solidFill>
              <a:latin typeface="Avenir Next LT Pro" panose="020B0504020202020204" pitchFamily="34" charset="0"/>
            </a:endParaRPr>
          </a:p>
        </p:txBody>
      </p:sp>
      <p:sp>
        <p:nvSpPr>
          <p:cNvPr id="7" name="TextBox 6">
            <a:extLst>
              <a:ext uri="{FF2B5EF4-FFF2-40B4-BE49-F238E27FC236}">
                <a16:creationId xmlns:a16="http://schemas.microsoft.com/office/drawing/2014/main" id="{4FEDD7BC-8A03-E6BA-BA7D-429B03751F06}"/>
              </a:ext>
            </a:extLst>
          </p:cNvPr>
          <p:cNvSpPr txBox="1"/>
          <p:nvPr/>
        </p:nvSpPr>
        <p:spPr>
          <a:xfrm>
            <a:off x="3927493" y="2598662"/>
            <a:ext cx="624187" cy="261610"/>
          </a:xfrm>
          <a:prstGeom prst="rect">
            <a:avLst/>
          </a:prstGeom>
          <a:noFill/>
        </p:spPr>
        <p:txBody>
          <a:bodyPr wrap="square" rtlCol="0">
            <a:spAutoFit/>
          </a:bodyPr>
          <a:lstStyle/>
          <a:p>
            <a:r>
              <a:rPr lang="en-IN" sz="1100" b="1" dirty="0">
                <a:solidFill>
                  <a:schemeClr val="bg1">
                    <a:lumMod val="95000"/>
                  </a:schemeClr>
                </a:solidFill>
                <a:latin typeface="Avenir Next LT Pro" panose="020B0504020202020204" pitchFamily="34" charset="0"/>
              </a:rPr>
              <a:t>32.87</a:t>
            </a:r>
            <a:endParaRPr lang="en-IN" sz="1400" b="1" dirty="0">
              <a:solidFill>
                <a:schemeClr val="bg1">
                  <a:lumMod val="95000"/>
                </a:schemeClr>
              </a:solidFill>
              <a:latin typeface="Avenir Next LT Pro" panose="020B0504020202020204" pitchFamily="34" charset="0"/>
            </a:endParaRPr>
          </a:p>
        </p:txBody>
      </p:sp>
      <p:sp>
        <p:nvSpPr>
          <p:cNvPr id="8" name="TextBox 7">
            <a:extLst>
              <a:ext uri="{FF2B5EF4-FFF2-40B4-BE49-F238E27FC236}">
                <a16:creationId xmlns:a16="http://schemas.microsoft.com/office/drawing/2014/main" id="{21E419B2-9239-4BF7-29BC-B6ED0A46EE5F}"/>
              </a:ext>
            </a:extLst>
          </p:cNvPr>
          <p:cNvSpPr txBox="1"/>
          <p:nvPr/>
        </p:nvSpPr>
        <p:spPr>
          <a:xfrm>
            <a:off x="4861230" y="2517085"/>
            <a:ext cx="624187" cy="261610"/>
          </a:xfrm>
          <a:prstGeom prst="rect">
            <a:avLst/>
          </a:prstGeom>
          <a:noFill/>
        </p:spPr>
        <p:txBody>
          <a:bodyPr wrap="square" rtlCol="0">
            <a:spAutoFit/>
          </a:bodyPr>
          <a:lstStyle/>
          <a:p>
            <a:r>
              <a:rPr lang="en-IN" sz="1100" b="1" dirty="0">
                <a:solidFill>
                  <a:schemeClr val="bg1">
                    <a:lumMod val="95000"/>
                  </a:schemeClr>
                </a:solidFill>
                <a:latin typeface="Avenir Next LT Pro" panose="020B0504020202020204" pitchFamily="34" charset="0"/>
              </a:rPr>
              <a:t>34.49</a:t>
            </a:r>
            <a:endParaRPr lang="en-IN" sz="1400" b="1" dirty="0">
              <a:solidFill>
                <a:schemeClr val="bg1">
                  <a:lumMod val="95000"/>
                </a:schemeClr>
              </a:solidFill>
              <a:latin typeface="Avenir Next LT Pro" panose="020B0504020202020204" pitchFamily="34" charset="0"/>
            </a:endParaRPr>
          </a:p>
        </p:txBody>
      </p:sp>
      <p:sp>
        <p:nvSpPr>
          <p:cNvPr id="9" name="TextBox 8">
            <a:extLst>
              <a:ext uri="{FF2B5EF4-FFF2-40B4-BE49-F238E27FC236}">
                <a16:creationId xmlns:a16="http://schemas.microsoft.com/office/drawing/2014/main" id="{BBA6553C-B432-4224-4A75-529166779775}"/>
              </a:ext>
            </a:extLst>
          </p:cNvPr>
          <p:cNvSpPr txBox="1"/>
          <p:nvPr/>
        </p:nvSpPr>
        <p:spPr>
          <a:xfrm>
            <a:off x="5776613" y="2623700"/>
            <a:ext cx="624187" cy="261610"/>
          </a:xfrm>
          <a:prstGeom prst="rect">
            <a:avLst/>
          </a:prstGeom>
          <a:noFill/>
        </p:spPr>
        <p:txBody>
          <a:bodyPr wrap="square" rtlCol="0">
            <a:spAutoFit/>
          </a:bodyPr>
          <a:lstStyle/>
          <a:p>
            <a:r>
              <a:rPr lang="en-IN" sz="1100" b="1" dirty="0">
                <a:solidFill>
                  <a:schemeClr val="bg1">
                    <a:lumMod val="95000"/>
                  </a:schemeClr>
                </a:solidFill>
                <a:latin typeface="Avenir Next LT Pro" panose="020B0504020202020204" pitchFamily="34" charset="0"/>
              </a:rPr>
              <a:t>33.06</a:t>
            </a:r>
            <a:endParaRPr lang="en-IN" sz="1400" b="1" dirty="0">
              <a:solidFill>
                <a:schemeClr val="bg1">
                  <a:lumMod val="95000"/>
                </a:schemeClr>
              </a:solidFill>
              <a:latin typeface="Avenir Next LT Pro" panose="020B0504020202020204" pitchFamily="34" charset="0"/>
            </a:endParaRPr>
          </a:p>
        </p:txBody>
      </p:sp>
      <p:sp>
        <p:nvSpPr>
          <p:cNvPr id="10" name="TextBox 9">
            <a:extLst>
              <a:ext uri="{FF2B5EF4-FFF2-40B4-BE49-F238E27FC236}">
                <a16:creationId xmlns:a16="http://schemas.microsoft.com/office/drawing/2014/main" id="{1C42D943-3EA8-6BE2-1EFD-A908394C6CBA}"/>
              </a:ext>
            </a:extLst>
          </p:cNvPr>
          <p:cNvSpPr txBox="1"/>
          <p:nvPr/>
        </p:nvSpPr>
        <p:spPr>
          <a:xfrm>
            <a:off x="6691996" y="2628715"/>
            <a:ext cx="624187" cy="261610"/>
          </a:xfrm>
          <a:prstGeom prst="rect">
            <a:avLst/>
          </a:prstGeom>
          <a:noFill/>
        </p:spPr>
        <p:txBody>
          <a:bodyPr wrap="square" rtlCol="0">
            <a:spAutoFit/>
          </a:bodyPr>
          <a:lstStyle/>
          <a:p>
            <a:r>
              <a:rPr lang="en-IN" sz="1100" b="1" dirty="0">
                <a:solidFill>
                  <a:schemeClr val="bg1">
                    <a:lumMod val="95000"/>
                  </a:schemeClr>
                </a:solidFill>
                <a:latin typeface="Avenir Next LT Pro" panose="020B0504020202020204" pitchFamily="34" charset="0"/>
              </a:rPr>
              <a:t>33.52</a:t>
            </a:r>
            <a:endParaRPr lang="en-IN" sz="1400" b="1" dirty="0">
              <a:solidFill>
                <a:schemeClr val="bg1">
                  <a:lumMod val="95000"/>
                </a:schemeClr>
              </a:solidFill>
              <a:latin typeface="Avenir Next LT Pro" panose="020B0504020202020204" pitchFamily="34" charset="0"/>
            </a:endParaRPr>
          </a:p>
        </p:txBody>
      </p:sp>
      <p:sp>
        <p:nvSpPr>
          <p:cNvPr id="11" name="TextBox 10">
            <a:extLst>
              <a:ext uri="{FF2B5EF4-FFF2-40B4-BE49-F238E27FC236}">
                <a16:creationId xmlns:a16="http://schemas.microsoft.com/office/drawing/2014/main" id="{691E21BA-3E2E-C925-C61F-9C7BF8360843}"/>
              </a:ext>
            </a:extLst>
          </p:cNvPr>
          <p:cNvSpPr txBox="1"/>
          <p:nvPr/>
        </p:nvSpPr>
        <p:spPr>
          <a:xfrm>
            <a:off x="7733193" y="3230965"/>
            <a:ext cx="3818727" cy="1138773"/>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Floor </a:t>
            </a:r>
            <a:r>
              <a:rPr lang="en-US" sz="2400" b="1" dirty="0">
                <a:solidFill>
                  <a:srgbClr val="92D050"/>
                </a:solidFill>
                <a:latin typeface="Avenir Next LT Pro" panose="020B0504020202020204" pitchFamily="34" charset="0"/>
              </a:rPr>
              <a:t>31.0% </a:t>
            </a:r>
            <a:r>
              <a:rPr lang="en-US" sz="2000" b="1" dirty="0">
                <a:solidFill>
                  <a:srgbClr val="FAF9F5"/>
                </a:solidFill>
                <a:latin typeface="Avenir Next LT Pro" panose="020B0504020202020204" pitchFamily="34" charset="0"/>
              </a:rPr>
              <a:t>in Central, ceiling </a:t>
            </a:r>
            <a:r>
              <a:rPr lang="en-US" sz="2400" b="1" dirty="0">
                <a:solidFill>
                  <a:srgbClr val="92D050"/>
                </a:solidFill>
                <a:latin typeface="Avenir Next LT Pro" panose="020B0504020202020204" pitchFamily="34" charset="0"/>
              </a:rPr>
              <a:t>46.6% </a:t>
            </a:r>
            <a:r>
              <a:rPr lang="en-US" sz="2000" b="1" dirty="0">
                <a:solidFill>
                  <a:srgbClr val="FAF9F5"/>
                </a:solidFill>
                <a:latin typeface="Avenir Next LT Pro" panose="020B0504020202020204" pitchFamily="34" charset="0"/>
              </a:rPr>
              <a:t>in Chennai, leaves oppositions no room</a:t>
            </a:r>
            <a:endParaRPr lang="en-IN" sz="2000" b="1" dirty="0">
              <a:solidFill>
                <a:srgbClr val="FAF9F5"/>
              </a:solidFill>
              <a:latin typeface="Avenir Next LT Pro" panose="020B0504020202020204" pitchFamily="34" charset="0"/>
            </a:endParaRPr>
          </a:p>
        </p:txBody>
      </p:sp>
    </p:spTree>
    <p:extLst>
      <p:ext uri="{BB962C8B-B14F-4D97-AF65-F5344CB8AC3E}">
        <p14:creationId xmlns:p14="http://schemas.microsoft.com/office/powerpoint/2010/main" val="3147000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AA46C9A9-2FBF-C967-FCEF-6088EA6EBF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F77D00-1A7B-5033-903F-E9210744D27D}"/>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Vote Share Story</a:t>
            </a:r>
          </a:p>
        </p:txBody>
      </p:sp>
      <p:sp>
        <p:nvSpPr>
          <p:cNvPr id="4" name="TextBox 3">
            <a:extLst>
              <a:ext uri="{FF2B5EF4-FFF2-40B4-BE49-F238E27FC236}">
                <a16:creationId xmlns:a16="http://schemas.microsoft.com/office/drawing/2014/main" id="{27A7AFFA-7176-61CF-6E15-75556E05E799}"/>
              </a:ext>
            </a:extLst>
          </p:cNvPr>
          <p:cNvSpPr txBox="1"/>
          <p:nvPr/>
        </p:nvSpPr>
        <p:spPr>
          <a:xfrm>
            <a:off x="5515897" y="341689"/>
            <a:ext cx="6162369" cy="707886"/>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In Chennai Metro, Nearly 1 in 2 Voters Choose a Party That Didn’t Exist Last Time</a:t>
            </a:r>
            <a:endParaRPr lang="en-IN" sz="2000" b="1" dirty="0">
              <a:solidFill>
                <a:srgbClr val="FAF9F5"/>
              </a:solidFill>
              <a:latin typeface="Avenir Next LT Pro" panose="020B0504020202020204" pitchFamily="34" charset="0"/>
            </a:endParaRPr>
          </a:p>
        </p:txBody>
      </p:sp>
      <p:sp>
        <p:nvSpPr>
          <p:cNvPr id="7" name="TextBox 6">
            <a:extLst>
              <a:ext uri="{FF2B5EF4-FFF2-40B4-BE49-F238E27FC236}">
                <a16:creationId xmlns:a16="http://schemas.microsoft.com/office/drawing/2014/main" id="{AFD328D2-ACF8-4DA2-CDFC-40607AA2B7C0}"/>
              </a:ext>
            </a:extLst>
          </p:cNvPr>
          <p:cNvSpPr txBox="1"/>
          <p:nvPr/>
        </p:nvSpPr>
        <p:spPr>
          <a:xfrm>
            <a:off x="513733" y="3198167"/>
            <a:ext cx="4659346" cy="830997"/>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DMK got 29.7 lakhs votes out of 65.6 lakhs vote</a:t>
            </a:r>
          </a:p>
        </p:txBody>
      </p:sp>
      <p:sp>
        <p:nvSpPr>
          <p:cNvPr id="8" name="TextBox 7">
            <a:extLst>
              <a:ext uri="{FF2B5EF4-FFF2-40B4-BE49-F238E27FC236}">
                <a16:creationId xmlns:a16="http://schemas.microsoft.com/office/drawing/2014/main" id="{ABA11038-9521-B08A-6703-AE18D8F0E83F}"/>
              </a:ext>
            </a:extLst>
          </p:cNvPr>
          <p:cNvSpPr txBox="1"/>
          <p:nvPr/>
        </p:nvSpPr>
        <p:spPr>
          <a:xfrm>
            <a:off x="513733" y="1642941"/>
            <a:ext cx="1059429" cy="461665"/>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2021</a:t>
            </a:r>
          </a:p>
        </p:txBody>
      </p:sp>
      <p:sp>
        <p:nvSpPr>
          <p:cNvPr id="9" name="TextBox 8">
            <a:extLst>
              <a:ext uri="{FF2B5EF4-FFF2-40B4-BE49-F238E27FC236}">
                <a16:creationId xmlns:a16="http://schemas.microsoft.com/office/drawing/2014/main" id="{4AAAA432-E764-1C76-C54F-EFFC56C37E93}"/>
              </a:ext>
            </a:extLst>
          </p:cNvPr>
          <p:cNvSpPr txBox="1"/>
          <p:nvPr/>
        </p:nvSpPr>
        <p:spPr>
          <a:xfrm>
            <a:off x="6481912" y="1643935"/>
            <a:ext cx="1059429" cy="461665"/>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2026</a:t>
            </a:r>
          </a:p>
        </p:txBody>
      </p:sp>
      <p:sp>
        <p:nvSpPr>
          <p:cNvPr id="10" name="TextBox 9">
            <a:extLst>
              <a:ext uri="{FF2B5EF4-FFF2-40B4-BE49-F238E27FC236}">
                <a16:creationId xmlns:a16="http://schemas.microsoft.com/office/drawing/2014/main" id="{40014225-0EF7-1C93-78E2-42705A430ACE}"/>
              </a:ext>
            </a:extLst>
          </p:cNvPr>
          <p:cNvSpPr txBox="1"/>
          <p:nvPr/>
        </p:nvSpPr>
        <p:spPr>
          <a:xfrm>
            <a:off x="6481912" y="3198167"/>
            <a:ext cx="4659346" cy="830997"/>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TVK got 33 lakhs votes out of 70.7 lakh total votes</a:t>
            </a:r>
          </a:p>
        </p:txBody>
      </p:sp>
      <p:sp>
        <p:nvSpPr>
          <p:cNvPr id="11" name="TextBox 10">
            <a:extLst>
              <a:ext uri="{FF2B5EF4-FFF2-40B4-BE49-F238E27FC236}">
                <a16:creationId xmlns:a16="http://schemas.microsoft.com/office/drawing/2014/main" id="{EC3C31D5-FD61-61A5-1522-7BDA1D0994F2}"/>
              </a:ext>
            </a:extLst>
          </p:cNvPr>
          <p:cNvSpPr txBox="1"/>
          <p:nvPr/>
        </p:nvSpPr>
        <p:spPr>
          <a:xfrm>
            <a:off x="6481912" y="2469127"/>
            <a:ext cx="3605985" cy="584775"/>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Vote Share – </a:t>
            </a:r>
            <a:r>
              <a:rPr lang="en-IN" sz="3200" b="1" dirty="0">
                <a:solidFill>
                  <a:srgbClr val="92D050"/>
                </a:solidFill>
                <a:latin typeface="Avenir Next LT Pro" panose="020B0504020202020204" pitchFamily="34" charset="0"/>
              </a:rPr>
              <a:t>46.63%</a:t>
            </a:r>
            <a:endParaRPr lang="en-IN" sz="2400" b="1" dirty="0">
              <a:solidFill>
                <a:srgbClr val="92D050"/>
              </a:solidFill>
              <a:latin typeface="Avenir Next LT Pro" panose="020B0504020202020204" pitchFamily="34" charset="0"/>
            </a:endParaRPr>
          </a:p>
        </p:txBody>
      </p:sp>
      <p:sp>
        <p:nvSpPr>
          <p:cNvPr id="12" name="TextBox 11">
            <a:extLst>
              <a:ext uri="{FF2B5EF4-FFF2-40B4-BE49-F238E27FC236}">
                <a16:creationId xmlns:a16="http://schemas.microsoft.com/office/drawing/2014/main" id="{8D5AADC5-84B6-836E-6C0A-44650EC0D02F}"/>
              </a:ext>
            </a:extLst>
          </p:cNvPr>
          <p:cNvSpPr txBox="1"/>
          <p:nvPr/>
        </p:nvSpPr>
        <p:spPr>
          <a:xfrm>
            <a:off x="513733" y="2469126"/>
            <a:ext cx="3684641" cy="584775"/>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Vote Share – </a:t>
            </a:r>
            <a:r>
              <a:rPr lang="en-IN" sz="3200" b="1" dirty="0">
                <a:solidFill>
                  <a:srgbClr val="FF0000"/>
                </a:solidFill>
                <a:latin typeface="Avenir Next LT Pro" panose="020B0504020202020204" pitchFamily="34" charset="0"/>
              </a:rPr>
              <a:t>45.34%</a:t>
            </a:r>
            <a:endParaRPr lang="en-IN" sz="2400" b="1" dirty="0">
              <a:solidFill>
                <a:srgbClr val="FF0000"/>
              </a:solidFill>
              <a:latin typeface="Avenir Next LT Pro" panose="020B0504020202020204" pitchFamily="34" charset="0"/>
            </a:endParaRPr>
          </a:p>
        </p:txBody>
      </p:sp>
    </p:spTree>
    <p:extLst>
      <p:ext uri="{BB962C8B-B14F-4D97-AF65-F5344CB8AC3E}">
        <p14:creationId xmlns:p14="http://schemas.microsoft.com/office/powerpoint/2010/main" val="2434522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0BB0AA1A-D3FC-8289-0634-E448F59D4A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498E52-AB89-B629-D4FC-79CB40F18D5E}"/>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Vote Share Story</a:t>
            </a:r>
          </a:p>
        </p:txBody>
      </p:sp>
      <p:sp>
        <p:nvSpPr>
          <p:cNvPr id="4" name="TextBox 3">
            <a:extLst>
              <a:ext uri="{FF2B5EF4-FFF2-40B4-BE49-F238E27FC236}">
                <a16:creationId xmlns:a16="http://schemas.microsoft.com/office/drawing/2014/main" id="{C7F24203-0E18-4394-5C47-2129D787EB65}"/>
              </a:ext>
            </a:extLst>
          </p:cNvPr>
          <p:cNvSpPr txBox="1"/>
          <p:nvPr/>
        </p:nvSpPr>
        <p:spPr>
          <a:xfrm>
            <a:off x="6469626" y="341689"/>
            <a:ext cx="5208640"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The Wave is A Migration, Not An Arrival</a:t>
            </a:r>
            <a:endParaRPr lang="en-IN" sz="2000" b="1" dirty="0">
              <a:solidFill>
                <a:srgbClr val="FAF9F5"/>
              </a:solidFill>
              <a:latin typeface="Avenir Next LT Pro" panose="020B0504020202020204" pitchFamily="34" charset="0"/>
            </a:endParaRPr>
          </a:p>
        </p:txBody>
      </p:sp>
      <p:sp>
        <p:nvSpPr>
          <p:cNvPr id="10" name="TextBox 9">
            <a:extLst>
              <a:ext uri="{FF2B5EF4-FFF2-40B4-BE49-F238E27FC236}">
                <a16:creationId xmlns:a16="http://schemas.microsoft.com/office/drawing/2014/main" id="{F6DDB895-3E42-A1DB-06BE-CB5413CBA347}"/>
              </a:ext>
            </a:extLst>
          </p:cNvPr>
          <p:cNvSpPr txBox="1"/>
          <p:nvPr/>
        </p:nvSpPr>
        <p:spPr>
          <a:xfrm>
            <a:off x="3358615" y="4136093"/>
            <a:ext cx="5474770" cy="954107"/>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New voter contribution could be </a:t>
            </a:r>
            <a:r>
              <a:rPr lang="en-IN" sz="2400" b="1" u="sng" dirty="0">
                <a:solidFill>
                  <a:schemeClr val="bg1">
                    <a:lumMod val="95000"/>
                  </a:schemeClr>
                </a:solidFill>
                <a:latin typeface="Avenir Next LT Pro" panose="020B0504020202020204" pitchFamily="34" charset="0"/>
              </a:rPr>
              <a:t>maximum</a:t>
            </a:r>
            <a:r>
              <a:rPr lang="en-IN" sz="2400" b="1" dirty="0">
                <a:solidFill>
                  <a:schemeClr val="bg1">
                    <a:lumMod val="95000"/>
                  </a:schemeClr>
                </a:solidFill>
                <a:latin typeface="Avenir Next LT Pro" panose="020B0504020202020204" pitchFamily="34" charset="0"/>
              </a:rPr>
              <a:t> </a:t>
            </a:r>
            <a:r>
              <a:rPr lang="en-IN" sz="3200" b="1" dirty="0">
                <a:solidFill>
                  <a:srgbClr val="FFC000"/>
                </a:solidFill>
                <a:latin typeface="Avenir Next LT Pro" panose="020B0504020202020204" pitchFamily="34" charset="0"/>
              </a:rPr>
              <a:t>15-22%</a:t>
            </a:r>
            <a:r>
              <a:rPr lang="en-IN" sz="2400" b="1" dirty="0">
                <a:solidFill>
                  <a:schemeClr val="bg1">
                    <a:lumMod val="95000"/>
                  </a:schemeClr>
                </a:solidFill>
                <a:latin typeface="Avenir Next LT Pro" panose="020B0504020202020204" pitchFamily="34" charset="0"/>
              </a:rPr>
              <a:t> of total votes</a:t>
            </a:r>
          </a:p>
        </p:txBody>
      </p:sp>
      <p:pic>
        <p:nvPicPr>
          <p:cNvPr id="5" name="Picture 4">
            <a:extLst>
              <a:ext uri="{FF2B5EF4-FFF2-40B4-BE49-F238E27FC236}">
                <a16:creationId xmlns:a16="http://schemas.microsoft.com/office/drawing/2014/main" id="{FDCD031A-38BF-19A7-41CC-1FBB548FAB12}"/>
              </a:ext>
            </a:extLst>
          </p:cNvPr>
          <p:cNvPicPr>
            <a:picLocks noChangeAspect="1"/>
          </p:cNvPicPr>
          <p:nvPr/>
        </p:nvPicPr>
        <p:blipFill>
          <a:blip r:embed="rId2"/>
          <a:stretch>
            <a:fillRect/>
          </a:stretch>
        </p:blipFill>
        <p:spPr>
          <a:xfrm>
            <a:off x="1945520" y="1252897"/>
            <a:ext cx="8300960" cy="2356709"/>
          </a:xfrm>
          <a:prstGeom prst="rect">
            <a:avLst/>
          </a:prstGeom>
        </p:spPr>
      </p:pic>
      <p:sp>
        <p:nvSpPr>
          <p:cNvPr id="6" name="TextBox 5">
            <a:extLst>
              <a:ext uri="{FF2B5EF4-FFF2-40B4-BE49-F238E27FC236}">
                <a16:creationId xmlns:a16="http://schemas.microsoft.com/office/drawing/2014/main" id="{1706ADD8-4BE7-9B02-A43C-0162B9D07CBD}"/>
              </a:ext>
            </a:extLst>
          </p:cNvPr>
          <p:cNvSpPr txBox="1"/>
          <p:nvPr/>
        </p:nvSpPr>
        <p:spPr>
          <a:xfrm>
            <a:off x="3358615" y="5320880"/>
            <a:ext cx="5474770" cy="954107"/>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Other </a:t>
            </a:r>
            <a:r>
              <a:rPr lang="en-IN" sz="3200" b="1" dirty="0">
                <a:solidFill>
                  <a:srgbClr val="92D050"/>
                </a:solidFill>
                <a:latin typeface="Avenir Next LT Pro" panose="020B0504020202020204" pitchFamily="34" charset="0"/>
              </a:rPr>
              <a:t>80-90% </a:t>
            </a:r>
            <a:r>
              <a:rPr lang="en-IN" sz="2400" b="1" dirty="0">
                <a:solidFill>
                  <a:schemeClr val="bg1">
                    <a:lumMod val="95000"/>
                  </a:schemeClr>
                </a:solidFill>
                <a:latin typeface="Avenir Next LT Pro" panose="020B0504020202020204" pitchFamily="34" charset="0"/>
              </a:rPr>
              <a:t>votes comes from switchers</a:t>
            </a:r>
          </a:p>
        </p:txBody>
      </p:sp>
    </p:spTree>
    <p:extLst>
      <p:ext uri="{BB962C8B-B14F-4D97-AF65-F5344CB8AC3E}">
        <p14:creationId xmlns:p14="http://schemas.microsoft.com/office/powerpoint/2010/main" val="3986980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14FB7640-A383-6C3D-5631-8992D2D743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547D93-E6C8-36EB-BC05-6FAC3483C81F}"/>
              </a:ext>
            </a:extLst>
          </p:cNvPr>
          <p:cNvSpPr txBox="1"/>
          <p:nvPr/>
        </p:nvSpPr>
        <p:spPr>
          <a:xfrm>
            <a:off x="1233948" y="2767280"/>
            <a:ext cx="9724104" cy="1323439"/>
          </a:xfrm>
          <a:prstGeom prst="rect">
            <a:avLst/>
          </a:prstGeom>
          <a:noFill/>
        </p:spPr>
        <p:txBody>
          <a:bodyPr wrap="square" rtlCol="0">
            <a:spAutoFit/>
          </a:bodyPr>
          <a:lstStyle/>
          <a:p>
            <a:r>
              <a:rPr lang="en-IN" sz="4000" dirty="0">
                <a:solidFill>
                  <a:schemeClr val="bg1">
                    <a:lumMod val="95000"/>
                  </a:schemeClr>
                </a:solidFill>
                <a:latin typeface="Avenir Next LT Pro" panose="020B0504020202020204" pitchFamily="34" charset="0"/>
              </a:rPr>
              <a:t>So how competitive did the battleground become?</a:t>
            </a:r>
          </a:p>
        </p:txBody>
      </p:sp>
    </p:spTree>
    <p:extLst>
      <p:ext uri="{BB962C8B-B14F-4D97-AF65-F5344CB8AC3E}">
        <p14:creationId xmlns:p14="http://schemas.microsoft.com/office/powerpoint/2010/main" val="181250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362F2A2C-2E00-5527-B616-CA998E8C8A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DF48C3-D99B-F6A1-5636-ED3CB562CB68}"/>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Margin of Victory Story</a:t>
            </a:r>
          </a:p>
        </p:txBody>
      </p:sp>
      <p:sp>
        <p:nvSpPr>
          <p:cNvPr id="3" name="TextBox 2">
            <a:extLst>
              <a:ext uri="{FF2B5EF4-FFF2-40B4-BE49-F238E27FC236}">
                <a16:creationId xmlns:a16="http://schemas.microsoft.com/office/drawing/2014/main" id="{53A819F1-3479-1005-1D81-2B7ABD1C59C3}"/>
              </a:ext>
            </a:extLst>
          </p:cNvPr>
          <p:cNvSpPr txBox="1"/>
          <p:nvPr/>
        </p:nvSpPr>
        <p:spPr>
          <a:xfrm>
            <a:off x="8170610" y="341689"/>
            <a:ext cx="3283970"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The Great Tripolar Effect</a:t>
            </a:r>
            <a:endParaRPr lang="en-IN" sz="2000" b="1" dirty="0">
              <a:solidFill>
                <a:srgbClr val="FAF9F5"/>
              </a:solidFill>
              <a:latin typeface="Avenir Next LT Pro" panose="020B0504020202020204" pitchFamily="34" charset="0"/>
            </a:endParaRPr>
          </a:p>
        </p:txBody>
      </p:sp>
      <p:grpSp>
        <p:nvGrpSpPr>
          <p:cNvPr id="15" name="Group 14">
            <a:extLst>
              <a:ext uri="{FF2B5EF4-FFF2-40B4-BE49-F238E27FC236}">
                <a16:creationId xmlns:a16="http://schemas.microsoft.com/office/drawing/2014/main" id="{6ABEA64A-794F-017D-EAB0-870FCB368C49}"/>
              </a:ext>
            </a:extLst>
          </p:cNvPr>
          <p:cNvGrpSpPr/>
          <p:nvPr/>
        </p:nvGrpSpPr>
        <p:grpSpPr>
          <a:xfrm>
            <a:off x="7443020" y="1412019"/>
            <a:ext cx="3613356" cy="3457714"/>
            <a:chOff x="7202122" y="741799"/>
            <a:chExt cx="4252458" cy="3814916"/>
          </a:xfrm>
        </p:grpSpPr>
        <p:pic>
          <p:nvPicPr>
            <p:cNvPr id="7" name="Picture 6">
              <a:extLst>
                <a:ext uri="{FF2B5EF4-FFF2-40B4-BE49-F238E27FC236}">
                  <a16:creationId xmlns:a16="http://schemas.microsoft.com/office/drawing/2014/main" id="{6741034A-BDA0-D60E-10F2-7C7F2FF5AD48}"/>
                </a:ext>
              </a:extLst>
            </p:cNvPr>
            <p:cNvPicPr>
              <a:picLocks noChangeAspect="1"/>
            </p:cNvPicPr>
            <p:nvPr/>
          </p:nvPicPr>
          <p:blipFill>
            <a:blip r:embed="rId2">
              <a:extLst>
                <a:ext uri="{28A0092B-C50C-407E-A947-70E740481C1C}">
                  <a14:useLocalDpi xmlns:a14="http://schemas.microsoft.com/office/drawing/2010/main" val="0"/>
                </a:ext>
              </a:extLst>
            </a:blip>
            <a:srcRect r="66347" b="4563"/>
            <a:stretch>
              <a:fillRect/>
            </a:stretch>
          </p:blipFill>
          <p:spPr>
            <a:xfrm>
              <a:off x="7202122" y="741799"/>
              <a:ext cx="3193028" cy="3814916"/>
            </a:xfrm>
            <a:prstGeom prst="rect">
              <a:avLst/>
            </a:prstGeom>
          </p:spPr>
        </p:pic>
        <p:pic>
          <p:nvPicPr>
            <p:cNvPr id="9" name="Picture 8">
              <a:extLst>
                <a:ext uri="{FF2B5EF4-FFF2-40B4-BE49-F238E27FC236}">
                  <a16:creationId xmlns:a16="http://schemas.microsoft.com/office/drawing/2014/main" id="{3F882E26-0D25-E3BB-86CD-85D1137E9D03}"/>
                </a:ext>
              </a:extLst>
            </p:cNvPr>
            <p:cNvPicPr>
              <a:picLocks noChangeAspect="1"/>
            </p:cNvPicPr>
            <p:nvPr/>
          </p:nvPicPr>
          <p:blipFill>
            <a:blip r:embed="rId2">
              <a:extLst>
                <a:ext uri="{28A0092B-C50C-407E-A947-70E740481C1C}">
                  <a14:useLocalDpi xmlns:a14="http://schemas.microsoft.com/office/drawing/2010/main" val="0"/>
                </a:ext>
              </a:extLst>
            </a:blip>
            <a:srcRect l="38328" t="14548" r="50721" b="74977"/>
            <a:stretch>
              <a:fillRect/>
            </a:stretch>
          </p:blipFill>
          <p:spPr>
            <a:xfrm>
              <a:off x="10461522" y="2217711"/>
              <a:ext cx="497488" cy="200480"/>
            </a:xfrm>
            <a:prstGeom prst="rect">
              <a:avLst/>
            </a:prstGeom>
          </p:spPr>
        </p:pic>
        <p:pic>
          <p:nvPicPr>
            <p:cNvPr id="10" name="Picture 9">
              <a:extLst>
                <a:ext uri="{FF2B5EF4-FFF2-40B4-BE49-F238E27FC236}">
                  <a16:creationId xmlns:a16="http://schemas.microsoft.com/office/drawing/2014/main" id="{3D0EE8CD-AFEC-78FD-6BB0-B998E6B303A8}"/>
                </a:ext>
              </a:extLst>
            </p:cNvPr>
            <p:cNvPicPr>
              <a:picLocks noChangeAspect="1"/>
            </p:cNvPicPr>
            <p:nvPr/>
          </p:nvPicPr>
          <p:blipFill>
            <a:blip r:embed="rId2">
              <a:extLst>
                <a:ext uri="{28A0092B-C50C-407E-A947-70E740481C1C}">
                  <a14:useLocalDpi xmlns:a14="http://schemas.microsoft.com/office/drawing/2010/main" val="0"/>
                </a:ext>
              </a:extLst>
            </a:blip>
            <a:srcRect l="52057" t="79650" r="36992" b="9875"/>
            <a:stretch>
              <a:fillRect/>
            </a:stretch>
          </p:blipFill>
          <p:spPr>
            <a:xfrm>
              <a:off x="10461522" y="3163530"/>
              <a:ext cx="527295" cy="212492"/>
            </a:xfrm>
            <a:prstGeom prst="rect">
              <a:avLst/>
            </a:prstGeom>
          </p:spPr>
        </p:pic>
        <p:sp>
          <p:nvSpPr>
            <p:cNvPr id="11" name="TextBox 10">
              <a:extLst>
                <a:ext uri="{FF2B5EF4-FFF2-40B4-BE49-F238E27FC236}">
                  <a16:creationId xmlns:a16="http://schemas.microsoft.com/office/drawing/2014/main" id="{261897A5-8D11-9E6D-F05A-AD9CE21ED068}"/>
                </a:ext>
              </a:extLst>
            </p:cNvPr>
            <p:cNvSpPr txBox="1"/>
            <p:nvPr/>
          </p:nvSpPr>
          <p:spPr>
            <a:xfrm>
              <a:off x="10395151" y="1752609"/>
              <a:ext cx="1059429" cy="305615"/>
            </a:xfrm>
            <a:prstGeom prst="rect">
              <a:avLst/>
            </a:prstGeom>
            <a:noFill/>
          </p:spPr>
          <p:txBody>
            <a:bodyPr wrap="square" rtlCol="0">
              <a:spAutoFit/>
            </a:bodyPr>
            <a:lstStyle/>
            <a:p>
              <a:r>
                <a:rPr lang="en-IN" sz="1200" b="1" dirty="0">
                  <a:solidFill>
                    <a:schemeClr val="bg1">
                      <a:lumMod val="95000"/>
                    </a:schemeClr>
                  </a:solidFill>
                  <a:latin typeface="+mj-lt"/>
                </a:rPr>
                <a:t>2021</a:t>
              </a:r>
              <a:endParaRPr lang="en-IN" sz="2400" b="1" dirty="0">
                <a:solidFill>
                  <a:schemeClr val="bg1">
                    <a:lumMod val="95000"/>
                  </a:schemeClr>
                </a:solidFill>
                <a:latin typeface="+mj-lt"/>
              </a:endParaRPr>
            </a:p>
          </p:txBody>
        </p:sp>
        <p:sp>
          <p:nvSpPr>
            <p:cNvPr id="12" name="TextBox 11">
              <a:extLst>
                <a:ext uri="{FF2B5EF4-FFF2-40B4-BE49-F238E27FC236}">
                  <a16:creationId xmlns:a16="http://schemas.microsoft.com/office/drawing/2014/main" id="{0E59C5DD-CA27-AE96-81AE-9486988600F5}"/>
                </a:ext>
              </a:extLst>
            </p:cNvPr>
            <p:cNvSpPr txBox="1"/>
            <p:nvPr/>
          </p:nvSpPr>
          <p:spPr>
            <a:xfrm>
              <a:off x="10395150" y="2697051"/>
              <a:ext cx="1059429" cy="305615"/>
            </a:xfrm>
            <a:prstGeom prst="rect">
              <a:avLst/>
            </a:prstGeom>
            <a:noFill/>
          </p:spPr>
          <p:txBody>
            <a:bodyPr wrap="square" rtlCol="0">
              <a:spAutoFit/>
            </a:bodyPr>
            <a:lstStyle/>
            <a:p>
              <a:r>
                <a:rPr lang="en-IN" sz="1200" b="1" dirty="0">
                  <a:solidFill>
                    <a:schemeClr val="bg1">
                      <a:lumMod val="95000"/>
                    </a:schemeClr>
                  </a:solidFill>
                  <a:latin typeface="+mj-lt"/>
                </a:rPr>
                <a:t>2026</a:t>
              </a:r>
              <a:endParaRPr lang="en-IN" sz="2400" b="1" dirty="0">
                <a:solidFill>
                  <a:schemeClr val="bg1">
                    <a:lumMod val="95000"/>
                  </a:schemeClr>
                </a:solidFill>
                <a:latin typeface="+mj-lt"/>
              </a:endParaRPr>
            </a:p>
          </p:txBody>
        </p:sp>
      </p:grpSp>
      <p:pic>
        <p:nvPicPr>
          <p:cNvPr id="14" name="Picture 13">
            <a:extLst>
              <a:ext uri="{FF2B5EF4-FFF2-40B4-BE49-F238E27FC236}">
                <a16:creationId xmlns:a16="http://schemas.microsoft.com/office/drawing/2014/main" id="{BB4CB596-B016-EA0F-475A-C71E5316C1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180" y="1762125"/>
            <a:ext cx="6419850" cy="3333750"/>
          </a:xfrm>
          <a:prstGeom prst="rect">
            <a:avLst/>
          </a:prstGeom>
        </p:spPr>
      </p:pic>
      <p:sp>
        <p:nvSpPr>
          <p:cNvPr id="4" name="TextBox 3">
            <a:extLst>
              <a:ext uri="{FF2B5EF4-FFF2-40B4-BE49-F238E27FC236}">
                <a16:creationId xmlns:a16="http://schemas.microsoft.com/office/drawing/2014/main" id="{2F11E97F-BA47-A137-5351-091334D49CD0}"/>
              </a:ext>
            </a:extLst>
          </p:cNvPr>
          <p:cNvSpPr txBox="1"/>
          <p:nvPr/>
        </p:nvSpPr>
        <p:spPr>
          <a:xfrm>
            <a:off x="3568020" y="5300593"/>
            <a:ext cx="6785020" cy="954107"/>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2026 winner vote share gets shallower. From </a:t>
            </a:r>
            <a:r>
              <a:rPr lang="en-IN" sz="3200" b="1" dirty="0">
                <a:solidFill>
                  <a:srgbClr val="92D050"/>
                </a:solidFill>
                <a:latin typeface="Avenir Next LT Pro" panose="020B0504020202020204" pitchFamily="34" charset="0"/>
              </a:rPr>
              <a:t>22.9k </a:t>
            </a:r>
            <a:r>
              <a:rPr lang="en-IN" sz="3200" b="1" dirty="0">
                <a:solidFill>
                  <a:schemeClr val="bg1">
                    <a:lumMod val="95000"/>
                  </a:schemeClr>
                </a:solidFill>
                <a:latin typeface="Avenir Next LT Pro" panose="020B0504020202020204" pitchFamily="34" charset="0"/>
              </a:rPr>
              <a:t>to</a:t>
            </a:r>
            <a:r>
              <a:rPr lang="en-IN" sz="3200" b="1" dirty="0">
                <a:solidFill>
                  <a:srgbClr val="92D050"/>
                </a:solidFill>
                <a:latin typeface="Avenir Next LT Pro" panose="020B0504020202020204" pitchFamily="34" charset="0"/>
              </a:rPr>
              <a:t> </a:t>
            </a:r>
            <a:r>
              <a:rPr lang="en-IN" sz="3200" b="1" dirty="0">
                <a:solidFill>
                  <a:srgbClr val="FF0000"/>
                </a:solidFill>
                <a:latin typeface="Avenir Next LT Pro" panose="020B0504020202020204" pitchFamily="34" charset="0"/>
              </a:rPr>
              <a:t>16.8k</a:t>
            </a:r>
            <a:endParaRPr lang="en-IN" sz="2400" b="1" dirty="0">
              <a:solidFill>
                <a:srgbClr val="FF0000"/>
              </a:solidFill>
              <a:latin typeface="Avenir Next LT Pro" panose="020B0504020202020204" pitchFamily="34" charset="0"/>
            </a:endParaRPr>
          </a:p>
        </p:txBody>
      </p:sp>
    </p:spTree>
    <p:extLst>
      <p:ext uri="{BB962C8B-B14F-4D97-AF65-F5344CB8AC3E}">
        <p14:creationId xmlns:p14="http://schemas.microsoft.com/office/powerpoint/2010/main" val="1251965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63652A5B-276F-B8BD-3BF7-EFC22DA3863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0AFDEA-BF78-BF78-12D1-A8DDEB8143E1}"/>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Margin of Victory Story</a:t>
            </a:r>
          </a:p>
        </p:txBody>
      </p:sp>
      <p:sp>
        <p:nvSpPr>
          <p:cNvPr id="3" name="TextBox 2">
            <a:extLst>
              <a:ext uri="{FF2B5EF4-FFF2-40B4-BE49-F238E27FC236}">
                <a16:creationId xmlns:a16="http://schemas.microsoft.com/office/drawing/2014/main" id="{015A5331-49ED-52DA-4A12-C960A1888BB9}"/>
              </a:ext>
            </a:extLst>
          </p:cNvPr>
          <p:cNvSpPr txBox="1"/>
          <p:nvPr/>
        </p:nvSpPr>
        <p:spPr>
          <a:xfrm>
            <a:off x="6838335" y="341689"/>
            <a:ext cx="4616245"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An 81% Collapse in Clear Mandates</a:t>
            </a:r>
            <a:endParaRPr lang="en-IN" sz="2000" b="1" dirty="0">
              <a:solidFill>
                <a:srgbClr val="FAF9F5"/>
              </a:solidFill>
              <a:latin typeface="Avenir Next LT Pro" panose="020B0504020202020204" pitchFamily="34" charset="0"/>
            </a:endParaRPr>
          </a:p>
        </p:txBody>
      </p:sp>
      <p:grpSp>
        <p:nvGrpSpPr>
          <p:cNvPr id="4" name="Group 3">
            <a:extLst>
              <a:ext uri="{FF2B5EF4-FFF2-40B4-BE49-F238E27FC236}">
                <a16:creationId xmlns:a16="http://schemas.microsoft.com/office/drawing/2014/main" id="{7D49D9BE-A12D-96E9-9287-DC1BAE34899C}"/>
              </a:ext>
            </a:extLst>
          </p:cNvPr>
          <p:cNvGrpSpPr/>
          <p:nvPr/>
        </p:nvGrpSpPr>
        <p:grpSpPr>
          <a:xfrm>
            <a:off x="1565788" y="1521542"/>
            <a:ext cx="4279492" cy="3814916"/>
            <a:chOff x="4073014" y="1473748"/>
            <a:chExt cx="4279492" cy="3814916"/>
          </a:xfrm>
        </p:grpSpPr>
        <p:pic>
          <p:nvPicPr>
            <p:cNvPr id="7" name="Picture 6">
              <a:extLst>
                <a:ext uri="{FF2B5EF4-FFF2-40B4-BE49-F238E27FC236}">
                  <a16:creationId xmlns:a16="http://schemas.microsoft.com/office/drawing/2014/main" id="{CDC56467-56AA-396E-62D7-56381039F36A}"/>
                </a:ext>
              </a:extLst>
            </p:cNvPr>
            <p:cNvPicPr>
              <a:picLocks noChangeAspect="1"/>
            </p:cNvPicPr>
            <p:nvPr/>
          </p:nvPicPr>
          <p:blipFill>
            <a:blip r:embed="rId2">
              <a:extLst>
                <a:ext uri="{28A0092B-C50C-407E-A947-70E740481C1C}">
                  <a14:useLocalDpi xmlns:a14="http://schemas.microsoft.com/office/drawing/2010/main" val="0"/>
                </a:ext>
              </a:extLst>
            </a:blip>
            <a:srcRect l="33652" r="31710" b="4563"/>
            <a:stretch>
              <a:fillRect/>
            </a:stretch>
          </p:blipFill>
          <p:spPr>
            <a:xfrm>
              <a:off x="4073014" y="1473748"/>
              <a:ext cx="3286434" cy="3814916"/>
            </a:xfrm>
            <a:prstGeom prst="rect">
              <a:avLst/>
            </a:prstGeom>
          </p:spPr>
        </p:pic>
        <p:pic>
          <p:nvPicPr>
            <p:cNvPr id="9" name="Picture 8">
              <a:extLst>
                <a:ext uri="{FF2B5EF4-FFF2-40B4-BE49-F238E27FC236}">
                  <a16:creationId xmlns:a16="http://schemas.microsoft.com/office/drawing/2014/main" id="{ADAB7C97-D240-CB69-038C-672B6C3C97CE}"/>
                </a:ext>
              </a:extLst>
            </p:cNvPr>
            <p:cNvPicPr>
              <a:picLocks noChangeAspect="1"/>
            </p:cNvPicPr>
            <p:nvPr/>
          </p:nvPicPr>
          <p:blipFill>
            <a:blip r:embed="rId2">
              <a:extLst>
                <a:ext uri="{28A0092B-C50C-407E-A947-70E740481C1C}">
                  <a14:useLocalDpi xmlns:a14="http://schemas.microsoft.com/office/drawing/2010/main" val="0"/>
                </a:ext>
              </a:extLst>
            </a:blip>
            <a:srcRect l="38328" t="14548" r="50721" b="74977"/>
            <a:stretch>
              <a:fillRect/>
            </a:stretch>
          </p:blipFill>
          <p:spPr>
            <a:xfrm>
              <a:off x="7359448" y="2997454"/>
              <a:ext cx="497488" cy="200480"/>
            </a:xfrm>
            <a:prstGeom prst="rect">
              <a:avLst/>
            </a:prstGeom>
          </p:spPr>
        </p:pic>
        <p:pic>
          <p:nvPicPr>
            <p:cNvPr id="10" name="Picture 9">
              <a:extLst>
                <a:ext uri="{FF2B5EF4-FFF2-40B4-BE49-F238E27FC236}">
                  <a16:creationId xmlns:a16="http://schemas.microsoft.com/office/drawing/2014/main" id="{00E616F0-D756-6668-21A6-D3725EC551BA}"/>
                </a:ext>
              </a:extLst>
            </p:cNvPr>
            <p:cNvPicPr>
              <a:picLocks noChangeAspect="1"/>
            </p:cNvPicPr>
            <p:nvPr/>
          </p:nvPicPr>
          <p:blipFill>
            <a:blip r:embed="rId2">
              <a:extLst>
                <a:ext uri="{28A0092B-C50C-407E-A947-70E740481C1C}">
                  <a14:useLocalDpi xmlns:a14="http://schemas.microsoft.com/office/drawing/2010/main" val="0"/>
                </a:ext>
              </a:extLst>
            </a:blip>
            <a:srcRect l="52057" t="79650" r="36992" b="9875"/>
            <a:stretch>
              <a:fillRect/>
            </a:stretch>
          </p:blipFill>
          <p:spPr>
            <a:xfrm>
              <a:off x="7359448" y="3943273"/>
              <a:ext cx="527295" cy="212492"/>
            </a:xfrm>
            <a:prstGeom prst="rect">
              <a:avLst/>
            </a:prstGeom>
          </p:spPr>
        </p:pic>
        <p:sp>
          <p:nvSpPr>
            <p:cNvPr id="11" name="TextBox 10">
              <a:extLst>
                <a:ext uri="{FF2B5EF4-FFF2-40B4-BE49-F238E27FC236}">
                  <a16:creationId xmlns:a16="http://schemas.microsoft.com/office/drawing/2014/main" id="{AC1ADBA2-46B7-52A8-D8E8-F9FD3E4268F0}"/>
                </a:ext>
              </a:extLst>
            </p:cNvPr>
            <p:cNvSpPr txBox="1"/>
            <p:nvPr/>
          </p:nvSpPr>
          <p:spPr>
            <a:xfrm>
              <a:off x="7293077" y="2532352"/>
              <a:ext cx="1059429" cy="276999"/>
            </a:xfrm>
            <a:prstGeom prst="rect">
              <a:avLst/>
            </a:prstGeom>
            <a:noFill/>
          </p:spPr>
          <p:txBody>
            <a:bodyPr wrap="square" rtlCol="0">
              <a:spAutoFit/>
            </a:bodyPr>
            <a:lstStyle/>
            <a:p>
              <a:r>
                <a:rPr lang="en-IN" sz="1200" b="1" dirty="0">
                  <a:solidFill>
                    <a:schemeClr val="bg1">
                      <a:lumMod val="95000"/>
                    </a:schemeClr>
                  </a:solidFill>
                  <a:latin typeface="+mj-lt"/>
                </a:rPr>
                <a:t>2021</a:t>
              </a:r>
              <a:endParaRPr lang="en-IN" sz="2400" b="1" dirty="0">
                <a:solidFill>
                  <a:schemeClr val="bg1">
                    <a:lumMod val="95000"/>
                  </a:schemeClr>
                </a:solidFill>
                <a:latin typeface="+mj-lt"/>
              </a:endParaRPr>
            </a:p>
          </p:txBody>
        </p:sp>
        <p:sp>
          <p:nvSpPr>
            <p:cNvPr id="12" name="TextBox 11">
              <a:extLst>
                <a:ext uri="{FF2B5EF4-FFF2-40B4-BE49-F238E27FC236}">
                  <a16:creationId xmlns:a16="http://schemas.microsoft.com/office/drawing/2014/main" id="{6BF39DDA-29FA-0A5C-EB2E-8C082E1DFFFF}"/>
                </a:ext>
              </a:extLst>
            </p:cNvPr>
            <p:cNvSpPr txBox="1"/>
            <p:nvPr/>
          </p:nvSpPr>
          <p:spPr>
            <a:xfrm>
              <a:off x="7293076" y="3476794"/>
              <a:ext cx="1059429" cy="276999"/>
            </a:xfrm>
            <a:prstGeom prst="rect">
              <a:avLst/>
            </a:prstGeom>
            <a:noFill/>
          </p:spPr>
          <p:txBody>
            <a:bodyPr wrap="square" rtlCol="0">
              <a:spAutoFit/>
            </a:bodyPr>
            <a:lstStyle/>
            <a:p>
              <a:r>
                <a:rPr lang="en-IN" sz="1200" b="1" dirty="0">
                  <a:solidFill>
                    <a:schemeClr val="bg1">
                      <a:lumMod val="95000"/>
                    </a:schemeClr>
                  </a:solidFill>
                  <a:latin typeface="+mj-lt"/>
                </a:rPr>
                <a:t>2026</a:t>
              </a:r>
              <a:endParaRPr lang="en-IN" sz="2400" b="1" dirty="0">
                <a:solidFill>
                  <a:schemeClr val="bg1">
                    <a:lumMod val="95000"/>
                  </a:schemeClr>
                </a:solidFill>
                <a:latin typeface="+mj-lt"/>
              </a:endParaRPr>
            </a:p>
          </p:txBody>
        </p:sp>
      </p:grpSp>
      <p:sp>
        <p:nvSpPr>
          <p:cNvPr id="5" name="TextBox 4">
            <a:extLst>
              <a:ext uri="{FF2B5EF4-FFF2-40B4-BE49-F238E27FC236}">
                <a16:creationId xmlns:a16="http://schemas.microsoft.com/office/drawing/2014/main" id="{AE02DB74-3755-FF26-DA84-3946497CAA13}"/>
              </a:ext>
            </a:extLst>
          </p:cNvPr>
          <p:cNvSpPr txBox="1"/>
          <p:nvPr/>
        </p:nvSpPr>
        <p:spPr>
          <a:xfrm>
            <a:off x="6504260" y="3036960"/>
            <a:ext cx="4950320" cy="954107"/>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Winners with &gt;50% vote shares reduced from </a:t>
            </a:r>
            <a:r>
              <a:rPr lang="en-IN" sz="3200" b="1" dirty="0">
                <a:solidFill>
                  <a:srgbClr val="92D050"/>
                </a:solidFill>
                <a:latin typeface="Avenir Next LT Pro" panose="020B0504020202020204" pitchFamily="34" charset="0"/>
              </a:rPr>
              <a:t>70</a:t>
            </a:r>
            <a:r>
              <a:rPr lang="en-IN" sz="2400" b="1" dirty="0">
                <a:solidFill>
                  <a:schemeClr val="bg1">
                    <a:lumMod val="95000"/>
                  </a:schemeClr>
                </a:solidFill>
                <a:latin typeface="Avenir Next LT Pro" panose="020B0504020202020204" pitchFamily="34" charset="0"/>
              </a:rPr>
              <a:t> to </a:t>
            </a:r>
            <a:r>
              <a:rPr lang="en-IN" sz="2400" b="1" dirty="0">
                <a:solidFill>
                  <a:srgbClr val="FF0000"/>
                </a:solidFill>
                <a:latin typeface="Avenir Next LT Pro" panose="020B0504020202020204" pitchFamily="34" charset="0"/>
              </a:rPr>
              <a:t>13</a:t>
            </a:r>
          </a:p>
        </p:txBody>
      </p:sp>
    </p:spTree>
    <p:extLst>
      <p:ext uri="{BB962C8B-B14F-4D97-AF65-F5344CB8AC3E}">
        <p14:creationId xmlns:p14="http://schemas.microsoft.com/office/powerpoint/2010/main" val="3610698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C870EF85-68B7-2674-D882-E2792A7319F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738E60-0727-3151-DDE6-362CDD61D9CD}"/>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Margin of Victory Story</a:t>
            </a:r>
          </a:p>
        </p:txBody>
      </p:sp>
      <p:sp>
        <p:nvSpPr>
          <p:cNvPr id="3" name="TextBox 2">
            <a:extLst>
              <a:ext uri="{FF2B5EF4-FFF2-40B4-BE49-F238E27FC236}">
                <a16:creationId xmlns:a16="http://schemas.microsoft.com/office/drawing/2014/main" id="{16775042-0984-8DFE-64DE-84C48E3AEAC0}"/>
              </a:ext>
            </a:extLst>
          </p:cNvPr>
          <p:cNvSpPr txBox="1"/>
          <p:nvPr/>
        </p:nvSpPr>
        <p:spPr>
          <a:xfrm>
            <a:off x="5997677" y="341689"/>
            <a:ext cx="5456903"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64 Elected MLAs Cannot Claim a Majority</a:t>
            </a:r>
            <a:endParaRPr lang="en-IN" sz="2000" b="1" dirty="0">
              <a:solidFill>
                <a:srgbClr val="FAF9F5"/>
              </a:solidFill>
              <a:latin typeface="Avenir Next LT Pro" panose="020B0504020202020204" pitchFamily="34" charset="0"/>
            </a:endParaRPr>
          </a:p>
        </p:txBody>
      </p:sp>
      <p:grpSp>
        <p:nvGrpSpPr>
          <p:cNvPr id="5" name="Group 4">
            <a:extLst>
              <a:ext uri="{FF2B5EF4-FFF2-40B4-BE49-F238E27FC236}">
                <a16:creationId xmlns:a16="http://schemas.microsoft.com/office/drawing/2014/main" id="{9E77B98D-DC9D-4345-A435-32CDBD722345}"/>
              </a:ext>
            </a:extLst>
          </p:cNvPr>
          <p:cNvGrpSpPr/>
          <p:nvPr/>
        </p:nvGrpSpPr>
        <p:grpSpPr>
          <a:xfrm>
            <a:off x="6995651" y="1521542"/>
            <a:ext cx="4279492" cy="3814916"/>
            <a:chOff x="6838335" y="1629697"/>
            <a:chExt cx="4279492" cy="3814916"/>
          </a:xfrm>
        </p:grpSpPr>
        <p:pic>
          <p:nvPicPr>
            <p:cNvPr id="7" name="Picture 6">
              <a:extLst>
                <a:ext uri="{FF2B5EF4-FFF2-40B4-BE49-F238E27FC236}">
                  <a16:creationId xmlns:a16="http://schemas.microsoft.com/office/drawing/2014/main" id="{9F8EB58C-4342-7E6A-B33C-7745A4A79736}"/>
                </a:ext>
              </a:extLst>
            </p:cNvPr>
            <p:cNvPicPr>
              <a:picLocks noChangeAspect="1"/>
            </p:cNvPicPr>
            <p:nvPr/>
          </p:nvPicPr>
          <p:blipFill>
            <a:blip r:embed="rId2">
              <a:extLst>
                <a:ext uri="{28A0092B-C50C-407E-A947-70E740481C1C}">
                  <a14:useLocalDpi xmlns:a14="http://schemas.microsoft.com/office/drawing/2010/main" val="0"/>
                </a:ext>
              </a:extLst>
            </a:blip>
            <a:srcRect l="65362" t="-110" b="4673"/>
            <a:stretch>
              <a:fillRect/>
            </a:stretch>
          </p:blipFill>
          <p:spPr>
            <a:xfrm>
              <a:off x="6838335" y="1629697"/>
              <a:ext cx="3286434" cy="3814916"/>
            </a:xfrm>
            <a:prstGeom prst="rect">
              <a:avLst/>
            </a:prstGeom>
          </p:spPr>
        </p:pic>
        <p:pic>
          <p:nvPicPr>
            <p:cNvPr id="9" name="Picture 8">
              <a:extLst>
                <a:ext uri="{FF2B5EF4-FFF2-40B4-BE49-F238E27FC236}">
                  <a16:creationId xmlns:a16="http://schemas.microsoft.com/office/drawing/2014/main" id="{F4A643C7-600D-BAA9-1840-903C8CF20E1F}"/>
                </a:ext>
              </a:extLst>
            </p:cNvPr>
            <p:cNvPicPr>
              <a:picLocks noChangeAspect="1"/>
            </p:cNvPicPr>
            <p:nvPr/>
          </p:nvPicPr>
          <p:blipFill>
            <a:blip r:embed="rId2">
              <a:extLst>
                <a:ext uri="{28A0092B-C50C-407E-A947-70E740481C1C}">
                  <a14:useLocalDpi xmlns:a14="http://schemas.microsoft.com/office/drawing/2010/main" val="0"/>
                </a:ext>
              </a:extLst>
            </a:blip>
            <a:srcRect l="38328" t="14548" r="50721" b="74977"/>
            <a:stretch>
              <a:fillRect/>
            </a:stretch>
          </p:blipFill>
          <p:spPr>
            <a:xfrm>
              <a:off x="10124769" y="2976422"/>
              <a:ext cx="497488" cy="200480"/>
            </a:xfrm>
            <a:prstGeom prst="rect">
              <a:avLst/>
            </a:prstGeom>
          </p:spPr>
        </p:pic>
        <p:pic>
          <p:nvPicPr>
            <p:cNvPr id="10" name="Picture 9">
              <a:extLst>
                <a:ext uri="{FF2B5EF4-FFF2-40B4-BE49-F238E27FC236}">
                  <a16:creationId xmlns:a16="http://schemas.microsoft.com/office/drawing/2014/main" id="{3EEABEEF-E382-6DBF-530C-95A3DCBE5188}"/>
                </a:ext>
              </a:extLst>
            </p:cNvPr>
            <p:cNvPicPr>
              <a:picLocks noChangeAspect="1"/>
            </p:cNvPicPr>
            <p:nvPr/>
          </p:nvPicPr>
          <p:blipFill>
            <a:blip r:embed="rId2">
              <a:extLst>
                <a:ext uri="{28A0092B-C50C-407E-A947-70E740481C1C}">
                  <a14:useLocalDpi xmlns:a14="http://schemas.microsoft.com/office/drawing/2010/main" val="0"/>
                </a:ext>
              </a:extLst>
            </a:blip>
            <a:srcRect l="52057" t="79650" r="36992" b="9875"/>
            <a:stretch>
              <a:fillRect/>
            </a:stretch>
          </p:blipFill>
          <p:spPr>
            <a:xfrm>
              <a:off x="10124769" y="3922241"/>
              <a:ext cx="527295" cy="212492"/>
            </a:xfrm>
            <a:prstGeom prst="rect">
              <a:avLst/>
            </a:prstGeom>
          </p:spPr>
        </p:pic>
        <p:sp>
          <p:nvSpPr>
            <p:cNvPr id="11" name="TextBox 10">
              <a:extLst>
                <a:ext uri="{FF2B5EF4-FFF2-40B4-BE49-F238E27FC236}">
                  <a16:creationId xmlns:a16="http://schemas.microsoft.com/office/drawing/2014/main" id="{46356C5F-5527-DE51-06BB-C669BE8C5BED}"/>
                </a:ext>
              </a:extLst>
            </p:cNvPr>
            <p:cNvSpPr txBox="1"/>
            <p:nvPr/>
          </p:nvSpPr>
          <p:spPr>
            <a:xfrm>
              <a:off x="10058398" y="2511320"/>
              <a:ext cx="1059429" cy="276999"/>
            </a:xfrm>
            <a:prstGeom prst="rect">
              <a:avLst/>
            </a:prstGeom>
            <a:noFill/>
          </p:spPr>
          <p:txBody>
            <a:bodyPr wrap="square" rtlCol="0">
              <a:spAutoFit/>
            </a:bodyPr>
            <a:lstStyle/>
            <a:p>
              <a:r>
                <a:rPr lang="en-IN" sz="1200" b="1" dirty="0">
                  <a:solidFill>
                    <a:schemeClr val="bg1">
                      <a:lumMod val="95000"/>
                    </a:schemeClr>
                  </a:solidFill>
                  <a:latin typeface="+mj-lt"/>
                </a:rPr>
                <a:t>2021</a:t>
              </a:r>
              <a:endParaRPr lang="en-IN" sz="2400" b="1" dirty="0">
                <a:solidFill>
                  <a:schemeClr val="bg1">
                    <a:lumMod val="95000"/>
                  </a:schemeClr>
                </a:solidFill>
                <a:latin typeface="+mj-lt"/>
              </a:endParaRPr>
            </a:p>
          </p:txBody>
        </p:sp>
        <p:sp>
          <p:nvSpPr>
            <p:cNvPr id="12" name="TextBox 11">
              <a:extLst>
                <a:ext uri="{FF2B5EF4-FFF2-40B4-BE49-F238E27FC236}">
                  <a16:creationId xmlns:a16="http://schemas.microsoft.com/office/drawing/2014/main" id="{3241CF4A-6069-CDF7-16F3-6C561F965E19}"/>
                </a:ext>
              </a:extLst>
            </p:cNvPr>
            <p:cNvSpPr txBox="1"/>
            <p:nvPr/>
          </p:nvSpPr>
          <p:spPr>
            <a:xfrm>
              <a:off x="10058397" y="3455762"/>
              <a:ext cx="1059429" cy="276999"/>
            </a:xfrm>
            <a:prstGeom prst="rect">
              <a:avLst/>
            </a:prstGeom>
            <a:noFill/>
          </p:spPr>
          <p:txBody>
            <a:bodyPr wrap="square" rtlCol="0">
              <a:spAutoFit/>
            </a:bodyPr>
            <a:lstStyle/>
            <a:p>
              <a:r>
                <a:rPr lang="en-IN" sz="1200" b="1" dirty="0">
                  <a:solidFill>
                    <a:schemeClr val="bg1">
                      <a:lumMod val="95000"/>
                    </a:schemeClr>
                  </a:solidFill>
                  <a:latin typeface="+mj-lt"/>
                </a:rPr>
                <a:t>2026</a:t>
              </a:r>
              <a:endParaRPr lang="en-IN" sz="2400" b="1" dirty="0">
                <a:solidFill>
                  <a:schemeClr val="bg1">
                    <a:lumMod val="95000"/>
                  </a:schemeClr>
                </a:solidFill>
                <a:latin typeface="+mj-lt"/>
              </a:endParaRPr>
            </a:p>
          </p:txBody>
        </p:sp>
      </p:grpSp>
      <p:sp>
        <p:nvSpPr>
          <p:cNvPr id="8" name="TextBox 7">
            <a:extLst>
              <a:ext uri="{FF2B5EF4-FFF2-40B4-BE49-F238E27FC236}">
                <a16:creationId xmlns:a16="http://schemas.microsoft.com/office/drawing/2014/main" id="{17814067-266E-A3E9-D8CD-0B07C4FD9A0C}"/>
              </a:ext>
            </a:extLst>
          </p:cNvPr>
          <p:cNvSpPr txBox="1"/>
          <p:nvPr/>
        </p:nvSpPr>
        <p:spPr>
          <a:xfrm>
            <a:off x="743235" y="2968507"/>
            <a:ext cx="5474770" cy="954107"/>
          </a:xfrm>
          <a:prstGeom prst="rect">
            <a:avLst/>
          </a:prstGeom>
          <a:noFill/>
        </p:spPr>
        <p:txBody>
          <a:bodyPr wrap="square" rtlCol="0">
            <a:spAutoFit/>
          </a:bodyPr>
          <a:lstStyle/>
          <a:p>
            <a:r>
              <a:rPr lang="en-IN" sz="3200" b="1" dirty="0">
                <a:solidFill>
                  <a:srgbClr val="FF0000"/>
                </a:solidFill>
                <a:latin typeface="Avenir Next LT Pro" panose="020B0504020202020204" pitchFamily="34" charset="0"/>
              </a:rPr>
              <a:t>2</a:t>
            </a:r>
            <a:r>
              <a:rPr lang="en-IN" sz="3200" b="1" dirty="0">
                <a:solidFill>
                  <a:srgbClr val="92D050"/>
                </a:solidFill>
                <a:latin typeface="Avenir Next LT Pro" panose="020B0504020202020204" pitchFamily="34" charset="0"/>
              </a:rPr>
              <a:t> </a:t>
            </a:r>
            <a:r>
              <a:rPr lang="en-IN" sz="3200" b="1" dirty="0">
                <a:solidFill>
                  <a:schemeClr val="bg1">
                    <a:lumMod val="95000"/>
                  </a:schemeClr>
                </a:solidFill>
                <a:latin typeface="Avenir Next LT Pro" panose="020B0504020202020204" pitchFamily="34" charset="0"/>
              </a:rPr>
              <a:t>to</a:t>
            </a:r>
            <a:r>
              <a:rPr lang="en-IN" sz="3200" b="1" dirty="0">
                <a:solidFill>
                  <a:srgbClr val="92D050"/>
                </a:solidFill>
                <a:latin typeface="Avenir Next LT Pro" panose="020B0504020202020204" pitchFamily="34" charset="0"/>
              </a:rPr>
              <a:t> 64</a:t>
            </a:r>
            <a:r>
              <a:rPr lang="en-IN" sz="2400" b="1" dirty="0">
                <a:solidFill>
                  <a:schemeClr val="bg1">
                    <a:lumMod val="95000"/>
                  </a:schemeClr>
                </a:solidFill>
                <a:latin typeface="Avenir Next LT Pro" panose="020B0504020202020204" pitchFamily="34" charset="0"/>
              </a:rPr>
              <a:t>, a massive </a:t>
            </a:r>
            <a:r>
              <a:rPr lang="en-IN" sz="3200" b="1" dirty="0">
                <a:solidFill>
                  <a:srgbClr val="92D050"/>
                </a:solidFill>
                <a:latin typeface="Avenir Next LT Pro" panose="020B0504020202020204" pitchFamily="34" charset="0"/>
              </a:rPr>
              <a:t>32x</a:t>
            </a:r>
            <a:r>
              <a:rPr lang="en-IN" sz="2400" b="1" dirty="0">
                <a:solidFill>
                  <a:schemeClr val="bg1">
                    <a:lumMod val="95000"/>
                  </a:schemeClr>
                </a:solidFill>
                <a:latin typeface="Avenir Next LT Pro" panose="020B0504020202020204" pitchFamily="34" charset="0"/>
              </a:rPr>
              <a:t> shoot for &lt;35 vote share winners</a:t>
            </a:r>
          </a:p>
        </p:txBody>
      </p:sp>
    </p:spTree>
    <p:extLst>
      <p:ext uri="{BB962C8B-B14F-4D97-AF65-F5344CB8AC3E}">
        <p14:creationId xmlns:p14="http://schemas.microsoft.com/office/powerpoint/2010/main" val="3319548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7890E951-E150-D991-B022-B4498A5DA9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AAE212-5ED6-1500-D7E9-20EB2B5C4319}"/>
              </a:ext>
            </a:extLst>
          </p:cNvPr>
          <p:cNvSpPr txBox="1"/>
          <p:nvPr/>
        </p:nvSpPr>
        <p:spPr>
          <a:xfrm>
            <a:off x="513733" y="357078"/>
            <a:ext cx="3507659" cy="369332"/>
          </a:xfrm>
          <a:prstGeom prst="rect">
            <a:avLst/>
          </a:prstGeom>
          <a:noFill/>
        </p:spPr>
        <p:txBody>
          <a:bodyPr wrap="square" rtlCol="0">
            <a:spAutoFit/>
          </a:bodyPr>
          <a:lstStyle/>
          <a:p>
            <a:r>
              <a:rPr lang="en-IN" dirty="0">
                <a:solidFill>
                  <a:schemeClr val="bg1">
                    <a:lumMod val="95000"/>
                  </a:schemeClr>
                </a:solidFill>
                <a:latin typeface="Avenir Next LT Pro" panose="020B0504020202020204" pitchFamily="34" charset="0"/>
              </a:rPr>
              <a:t>The Margin of Victory Story</a:t>
            </a:r>
          </a:p>
        </p:txBody>
      </p:sp>
      <p:sp>
        <p:nvSpPr>
          <p:cNvPr id="3" name="TextBox 2">
            <a:extLst>
              <a:ext uri="{FF2B5EF4-FFF2-40B4-BE49-F238E27FC236}">
                <a16:creationId xmlns:a16="http://schemas.microsoft.com/office/drawing/2014/main" id="{1454B493-C0A2-BDFA-D366-F1271040FDD8}"/>
              </a:ext>
            </a:extLst>
          </p:cNvPr>
          <p:cNvSpPr txBox="1"/>
          <p:nvPr/>
        </p:nvSpPr>
        <p:spPr>
          <a:xfrm>
            <a:off x="6646605" y="341689"/>
            <a:ext cx="4807975"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1 Vote Margin Vs 1 Lakh Vote Margin</a:t>
            </a:r>
            <a:endParaRPr lang="en-IN" sz="2000" b="1" dirty="0">
              <a:solidFill>
                <a:srgbClr val="FAF9F5"/>
              </a:solidFill>
              <a:latin typeface="Avenir Next LT Pro" panose="020B0504020202020204" pitchFamily="34" charset="0"/>
            </a:endParaRPr>
          </a:p>
        </p:txBody>
      </p:sp>
      <p:pic>
        <p:nvPicPr>
          <p:cNvPr id="6" name="Picture 5">
            <a:extLst>
              <a:ext uri="{FF2B5EF4-FFF2-40B4-BE49-F238E27FC236}">
                <a16:creationId xmlns:a16="http://schemas.microsoft.com/office/drawing/2014/main" id="{064C40B0-2FD8-D4FB-107A-CA852103F4DE}"/>
              </a:ext>
            </a:extLst>
          </p:cNvPr>
          <p:cNvPicPr>
            <a:picLocks noChangeAspect="1"/>
          </p:cNvPicPr>
          <p:nvPr/>
        </p:nvPicPr>
        <p:blipFill>
          <a:blip r:embed="rId2"/>
          <a:stretch>
            <a:fillRect/>
          </a:stretch>
        </p:blipFill>
        <p:spPr>
          <a:xfrm>
            <a:off x="513733" y="1523034"/>
            <a:ext cx="6477561" cy="1234547"/>
          </a:xfrm>
          <a:prstGeom prst="rect">
            <a:avLst/>
          </a:prstGeom>
        </p:spPr>
      </p:pic>
      <p:pic>
        <p:nvPicPr>
          <p:cNvPr id="14" name="Picture 13">
            <a:extLst>
              <a:ext uri="{FF2B5EF4-FFF2-40B4-BE49-F238E27FC236}">
                <a16:creationId xmlns:a16="http://schemas.microsoft.com/office/drawing/2014/main" id="{9C62FED7-363B-C21D-5D5D-F2CDF9DD979D}"/>
              </a:ext>
            </a:extLst>
          </p:cNvPr>
          <p:cNvPicPr>
            <a:picLocks noChangeAspect="1"/>
          </p:cNvPicPr>
          <p:nvPr/>
        </p:nvPicPr>
        <p:blipFill>
          <a:blip r:embed="rId3"/>
          <a:stretch>
            <a:fillRect/>
          </a:stretch>
        </p:blipFill>
        <p:spPr>
          <a:xfrm>
            <a:off x="513733" y="3802625"/>
            <a:ext cx="6416596" cy="1196444"/>
          </a:xfrm>
          <a:prstGeom prst="rect">
            <a:avLst/>
          </a:prstGeom>
        </p:spPr>
      </p:pic>
      <p:sp>
        <p:nvSpPr>
          <p:cNvPr id="4" name="TextBox 3">
            <a:extLst>
              <a:ext uri="{FF2B5EF4-FFF2-40B4-BE49-F238E27FC236}">
                <a16:creationId xmlns:a16="http://schemas.microsoft.com/office/drawing/2014/main" id="{C4168442-4BC7-F70F-0AE2-B58EAF4923A8}"/>
              </a:ext>
            </a:extLst>
          </p:cNvPr>
          <p:cNvSpPr txBox="1"/>
          <p:nvPr/>
        </p:nvSpPr>
        <p:spPr>
          <a:xfrm>
            <a:off x="7018921" y="1663253"/>
            <a:ext cx="4659346" cy="830997"/>
          </a:xfrm>
          <a:prstGeom prst="rect">
            <a:avLst/>
          </a:prstGeom>
          <a:noFill/>
        </p:spPr>
        <p:txBody>
          <a:bodyPr wrap="square" rtlCol="0">
            <a:spAutoFit/>
          </a:bodyPr>
          <a:lstStyle/>
          <a:p>
            <a:pPr algn="r"/>
            <a:r>
              <a:rPr lang="en-IN" sz="2400" b="1" dirty="0">
                <a:solidFill>
                  <a:schemeClr val="bg1">
                    <a:lumMod val="95000"/>
                  </a:schemeClr>
                </a:solidFill>
                <a:latin typeface="Avenir Next LT Pro" panose="020B0504020202020204" pitchFamily="34" charset="0"/>
              </a:rPr>
              <a:t>In </a:t>
            </a:r>
            <a:r>
              <a:rPr lang="en-IN" sz="2400" b="1" dirty="0" err="1">
                <a:solidFill>
                  <a:schemeClr val="bg1">
                    <a:lumMod val="95000"/>
                  </a:schemeClr>
                </a:solidFill>
                <a:latin typeface="Avenir Next LT Pro" panose="020B0504020202020204" pitchFamily="34" charset="0"/>
              </a:rPr>
              <a:t>Tirupattur</a:t>
            </a:r>
            <a:r>
              <a:rPr lang="en-IN" sz="2400" b="1" dirty="0">
                <a:solidFill>
                  <a:schemeClr val="bg1">
                    <a:lumMod val="95000"/>
                  </a:schemeClr>
                </a:solidFill>
                <a:latin typeface="Avenir Next LT Pro" panose="020B0504020202020204" pitchFamily="34" charset="0"/>
              </a:rPr>
              <a:t> (AC-185) </a:t>
            </a:r>
            <a:r>
              <a:rPr lang="en-IN" sz="2400" b="1" dirty="0">
                <a:solidFill>
                  <a:srgbClr val="FF0000"/>
                </a:solidFill>
                <a:latin typeface="Avenir Next LT Pro" panose="020B0504020202020204" pitchFamily="34" charset="0"/>
              </a:rPr>
              <a:t>1 vote </a:t>
            </a:r>
            <a:r>
              <a:rPr lang="en-IN" sz="2400" b="1" dirty="0">
                <a:solidFill>
                  <a:schemeClr val="bg1">
                    <a:lumMod val="95000"/>
                  </a:schemeClr>
                </a:solidFill>
                <a:latin typeface="Avenir Next LT Pro" panose="020B0504020202020204" pitchFamily="34" charset="0"/>
              </a:rPr>
              <a:t>decides winner </a:t>
            </a:r>
          </a:p>
        </p:txBody>
      </p:sp>
      <p:sp>
        <p:nvSpPr>
          <p:cNvPr id="5" name="TextBox 4">
            <a:extLst>
              <a:ext uri="{FF2B5EF4-FFF2-40B4-BE49-F238E27FC236}">
                <a16:creationId xmlns:a16="http://schemas.microsoft.com/office/drawing/2014/main" id="{2948D6F4-145C-2235-FF4F-21C0EC16A85C}"/>
              </a:ext>
            </a:extLst>
          </p:cNvPr>
          <p:cNvSpPr txBox="1"/>
          <p:nvPr/>
        </p:nvSpPr>
        <p:spPr>
          <a:xfrm>
            <a:off x="7018921" y="3798740"/>
            <a:ext cx="4659346" cy="1200329"/>
          </a:xfrm>
          <a:prstGeom prst="rect">
            <a:avLst/>
          </a:prstGeom>
          <a:noFill/>
        </p:spPr>
        <p:txBody>
          <a:bodyPr wrap="square" rtlCol="0">
            <a:spAutoFit/>
          </a:bodyPr>
          <a:lstStyle/>
          <a:p>
            <a:pPr algn="r"/>
            <a:r>
              <a:rPr lang="en-IN" sz="2400" b="1" dirty="0">
                <a:solidFill>
                  <a:schemeClr val="bg1">
                    <a:lumMod val="95000"/>
                  </a:schemeClr>
                </a:solidFill>
                <a:latin typeface="Avenir Next LT Pro" panose="020B0504020202020204" pitchFamily="34" charset="0"/>
              </a:rPr>
              <a:t>In Edappadi nearly </a:t>
            </a:r>
            <a:r>
              <a:rPr lang="en-IN" sz="2400" b="1" dirty="0">
                <a:solidFill>
                  <a:srgbClr val="92D050"/>
                </a:solidFill>
                <a:latin typeface="Avenir Next LT Pro" panose="020B0504020202020204" pitchFamily="34" charset="0"/>
              </a:rPr>
              <a:t>1 lakh </a:t>
            </a:r>
            <a:r>
              <a:rPr lang="en-IN" sz="2400" b="1" dirty="0">
                <a:solidFill>
                  <a:schemeClr val="bg1">
                    <a:lumMod val="95000"/>
                  </a:schemeClr>
                </a:solidFill>
                <a:latin typeface="Avenir Next LT Pro" panose="020B0504020202020204" pitchFamily="34" charset="0"/>
              </a:rPr>
              <a:t>margin created landslide victory</a:t>
            </a:r>
          </a:p>
        </p:txBody>
      </p:sp>
    </p:spTree>
    <p:extLst>
      <p:ext uri="{BB962C8B-B14F-4D97-AF65-F5344CB8AC3E}">
        <p14:creationId xmlns:p14="http://schemas.microsoft.com/office/powerpoint/2010/main" val="1128061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3D30BEAA-1004-1CB4-D09C-E8D05289B7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DEB191-B38F-1060-AA3D-EFC97E995D5C}"/>
              </a:ext>
            </a:extLst>
          </p:cNvPr>
          <p:cNvSpPr txBox="1"/>
          <p:nvPr/>
        </p:nvSpPr>
        <p:spPr>
          <a:xfrm>
            <a:off x="7946923" y="341689"/>
            <a:ext cx="3507658"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Editorial Recommendation</a:t>
            </a:r>
            <a:endParaRPr lang="en-IN" sz="2000" b="1" dirty="0">
              <a:solidFill>
                <a:srgbClr val="FAF9F5"/>
              </a:solidFill>
              <a:latin typeface="Avenir Next LT Pro" panose="020B0504020202020204" pitchFamily="34" charset="0"/>
            </a:endParaRPr>
          </a:p>
        </p:txBody>
      </p:sp>
      <p:sp>
        <p:nvSpPr>
          <p:cNvPr id="4" name="TextBox 3">
            <a:extLst>
              <a:ext uri="{FF2B5EF4-FFF2-40B4-BE49-F238E27FC236}">
                <a16:creationId xmlns:a16="http://schemas.microsoft.com/office/drawing/2014/main" id="{B57FB654-D555-76C8-1CE6-374AB4915E93}"/>
              </a:ext>
            </a:extLst>
          </p:cNvPr>
          <p:cNvSpPr txBox="1"/>
          <p:nvPr/>
        </p:nvSpPr>
        <p:spPr>
          <a:xfrm>
            <a:off x="513733" y="1574327"/>
            <a:ext cx="10940848" cy="4278094"/>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The show should retain the deck’s carefully designed </a:t>
            </a:r>
            <a:r>
              <a:rPr lang="en-IN" sz="2400" b="1" dirty="0">
                <a:solidFill>
                  <a:srgbClr val="00B0F0"/>
                </a:solidFill>
                <a:latin typeface="Avenir Next LT Pro" panose="020B0504020202020204" pitchFamily="34" charset="0"/>
              </a:rPr>
              <a:t>three-act storytelling structure</a:t>
            </a:r>
            <a:r>
              <a:rPr lang="en-IN" sz="2400" b="1" dirty="0">
                <a:solidFill>
                  <a:schemeClr val="bg1">
                    <a:lumMod val="95000"/>
                  </a:schemeClr>
                </a:solidFill>
                <a:latin typeface="Avenir Next LT Pro" panose="020B0504020202020204" pitchFamily="34" charset="0"/>
              </a:rPr>
              <a:t>, where every segment builds toward its own climax while contributing to a larger narrative arc. </a:t>
            </a:r>
          </a:p>
          <a:p>
            <a:endParaRPr lang="en-IN" sz="2400" b="1" dirty="0">
              <a:solidFill>
                <a:schemeClr val="bg1">
                  <a:lumMod val="95000"/>
                </a:schemeClr>
              </a:solidFill>
              <a:latin typeface="Avenir Next LT Pro" panose="020B0504020202020204" pitchFamily="34" charset="0"/>
            </a:endParaRPr>
          </a:p>
          <a:p>
            <a:r>
              <a:rPr lang="en-IN" sz="2400" b="1" dirty="0">
                <a:solidFill>
                  <a:schemeClr val="bg1">
                    <a:lumMod val="95000"/>
                  </a:schemeClr>
                </a:solidFill>
                <a:latin typeface="Avenir Next LT Pro" panose="020B0504020202020204" pitchFamily="34" charset="0"/>
              </a:rPr>
              <a:t>Each slide should answer the previous question while </a:t>
            </a:r>
            <a:r>
              <a:rPr lang="en-IN" sz="2400" b="1" dirty="0">
                <a:solidFill>
                  <a:srgbClr val="00B0F0"/>
                </a:solidFill>
                <a:latin typeface="Avenir Next LT Pro" panose="020B0504020202020204" pitchFamily="34" charset="0"/>
              </a:rPr>
              <a:t>creating curiosity for the next</a:t>
            </a:r>
            <a:r>
              <a:rPr lang="en-IN" sz="2400" b="1" dirty="0">
                <a:solidFill>
                  <a:schemeClr val="bg1">
                    <a:lumMod val="95000"/>
                  </a:schemeClr>
                </a:solidFill>
                <a:latin typeface="Avenir Next LT Pro" panose="020B0504020202020204" pitchFamily="34" charset="0"/>
              </a:rPr>
              <a:t>, ensuring continuous viewer engagement. </a:t>
            </a:r>
          </a:p>
          <a:p>
            <a:endParaRPr lang="en-IN" sz="2400" b="1" dirty="0">
              <a:solidFill>
                <a:schemeClr val="bg1">
                  <a:lumMod val="95000"/>
                </a:schemeClr>
              </a:solidFill>
              <a:latin typeface="Avenir Next LT Pro" panose="020B0504020202020204" pitchFamily="34" charset="0"/>
            </a:endParaRPr>
          </a:p>
          <a:p>
            <a:r>
              <a:rPr lang="en-IN" sz="2400" b="1" dirty="0">
                <a:solidFill>
                  <a:schemeClr val="bg1">
                    <a:lumMod val="95000"/>
                  </a:schemeClr>
                </a:solidFill>
                <a:latin typeface="Avenir Next LT Pro" panose="020B0504020202020204" pitchFamily="34" charset="0"/>
              </a:rPr>
              <a:t>Since the programme is heavily data-driven, the focus should remain on </a:t>
            </a:r>
            <a:r>
              <a:rPr lang="en-IN" sz="2400" b="1" dirty="0">
                <a:solidFill>
                  <a:srgbClr val="00B0F0"/>
                </a:solidFill>
                <a:latin typeface="Avenir Next LT Pro" panose="020B0504020202020204" pitchFamily="34" charset="0"/>
              </a:rPr>
              <a:t>concise, interconnected insights </a:t>
            </a:r>
            <a:r>
              <a:rPr lang="en-IN" sz="2400" b="1" dirty="0">
                <a:solidFill>
                  <a:schemeClr val="bg1">
                    <a:lumMod val="95000"/>
                  </a:schemeClr>
                </a:solidFill>
                <a:latin typeface="Avenir Next LT Pro" panose="020B0504020202020204" pitchFamily="34" charset="0"/>
              </a:rPr>
              <a:t>rather than </a:t>
            </a:r>
            <a:r>
              <a:rPr lang="en-IN" sz="2400" b="1" dirty="0">
                <a:solidFill>
                  <a:srgbClr val="FFC000"/>
                </a:solidFill>
                <a:latin typeface="Avenir Next LT Pro" panose="020B0504020202020204" pitchFamily="34" charset="0"/>
              </a:rPr>
              <a:t>overwhelming audiences with excessive statistics</a:t>
            </a:r>
            <a:r>
              <a:rPr lang="en-IN" sz="2400" b="1" dirty="0">
                <a:solidFill>
                  <a:schemeClr val="bg1">
                    <a:lumMod val="95000"/>
                  </a:schemeClr>
                </a:solidFill>
                <a:latin typeface="Avenir Next LT Pro" panose="020B0504020202020204" pitchFamily="34" charset="0"/>
              </a:rPr>
              <a:t>. The goal is to make the analysis </a:t>
            </a:r>
            <a:r>
              <a:rPr lang="en-IN" sz="2800" b="1" dirty="0">
                <a:solidFill>
                  <a:schemeClr val="bg1">
                    <a:lumMod val="95000"/>
                  </a:schemeClr>
                </a:solidFill>
                <a:latin typeface="Avenir Next LT Pro" panose="020B0504020202020204" pitchFamily="34" charset="0"/>
              </a:rPr>
              <a:t>informative, engaging, and highly watchable for a broad audience.</a:t>
            </a:r>
            <a:endParaRPr lang="en-IN" sz="2400" b="1" dirty="0">
              <a:solidFill>
                <a:schemeClr val="bg1">
                  <a:lumMod val="95000"/>
                </a:schemeClr>
              </a:solidFill>
              <a:latin typeface="Avenir Next LT Pro" panose="020B0504020202020204" pitchFamily="34" charset="0"/>
            </a:endParaRPr>
          </a:p>
        </p:txBody>
      </p:sp>
    </p:spTree>
    <p:extLst>
      <p:ext uri="{BB962C8B-B14F-4D97-AF65-F5344CB8AC3E}">
        <p14:creationId xmlns:p14="http://schemas.microsoft.com/office/powerpoint/2010/main" val="334111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BC4B24BB-9A69-31F3-3F2B-61AB25CFFB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8C7C31-4040-9250-0E44-6073D110D613}"/>
              </a:ext>
            </a:extLst>
          </p:cNvPr>
          <p:cNvSpPr txBox="1"/>
          <p:nvPr/>
        </p:nvSpPr>
        <p:spPr>
          <a:xfrm>
            <a:off x="9252155" y="341689"/>
            <a:ext cx="2202425"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Data Limitations </a:t>
            </a:r>
            <a:endParaRPr lang="en-IN" sz="2000" b="1" dirty="0">
              <a:solidFill>
                <a:srgbClr val="FAF9F5"/>
              </a:solidFill>
              <a:latin typeface="Avenir Next LT Pro" panose="020B0504020202020204" pitchFamily="34" charset="0"/>
            </a:endParaRPr>
          </a:p>
        </p:txBody>
      </p:sp>
      <p:sp>
        <p:nvSpPr>
          <p:cNvPr id="4" name="TextBox 3">
            <a:extLst>
              <a:ext uri="{FF2B5EF4-FFF2-40B4-BE49-F238E27FC236}">
                <a16:creationId xmlns:a16="http://schemas.microsoft.com/office/drawing/2014/main" id="{FEBCC494-DAB4-76F8-5049-2541D876EB00}"/>
              </a:ext>
            </a:extLst>
          </p:cNvPr>
          <p:cNvSpPr txBox="1"/>
          <p:nvPr/>
        </p:nvSpPr>
        <p:spPr>
          <a:xfrm>
            <a:off x="2046256" y="2836381"/>
            <a:ext cx="8377082" cy="830997"/>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Any demographic, caste, income or survey based data is </a:t>
            </a:r>
            <a:r>
              <a:rPr lang="en-IN" sz="2400" b="1" dirty="0">
                <a:solidFill>
                  <a:srgbClr val="FF0000"/>
                </a:solidFill>
                <a:latin typeface="Avenir Next LT Pro" panose="020B0504020202020204" pitchFamily="34" charset="0"/>
              </a:rPr>
              <a:t>not incorporated </a:t>
            </a:r>
            <a:r>
              <a:rPr lang="en-IN" sz="2400" b="1" dirty="0">
                <a:solidFill>
                  <a:schemeClr val="bg1">
                    <a:lumMod val="95000"/>
                  </a:schemeClr>
                </a:solidFill>
                <a:latin typeface="Avenir Next LT Pro" panose="020B0504020202020204" pitchFamily="34" charset="0"/>
              </a:rPr>
              <a:t>in this analysis</a:t>
            </a:r>
          </a:p>
        </p:txBody>
      </p:sp>
      <p:sp>
        <p:nvSpPr>
          <p:cNvPr id="5" name="TextBox 4">
            <a:extLst>
              <a:ext uri="{FF2B5EF4-FFF2-40B4-BE49-F238E27FC236}">
                <a16:creationId xmlns:a16="http://schemas.microsoft.com/office/drawing/2014/main" id="{19361DD0-A982-26BD-C844-9154BA712E43}"/>
              </a:ext>
            </a:extLst>
          </p:cNvPr>
          <p:cNvSpPr txBox="1"/>
          <p:nvPr/>
        </p:nvSpPr>
        <p:spPr>
          <a:xfrm>
            <a:off x="2046256" y="1365897"/>
            <a:ext cx="8377082" cy="830997"/>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The analysis is conducted on the publicly available constituency level data.</a:t>
            </a:r>
          </a:p>
        </p:txBody>
      </p:sp>
      <p:sp>
        <p:nvSpPr>
          <p:cNvPr id="8" name="TextBox 7">
            <a:extLst>
              <a:ext uri="{FF2B5EF4-FFF2-40B4-BE49-F238E27FC236}">
                <a16:creationId xmlns:a16="http://schemas.microsoft.com/office/drawing/2014/main" id="{25B7C6E5-4A00-BBAF-C85A-5E1549FF05EE}"/>
              </a:ext>
            </a:extLst>
          </p:cNvPr>
          <p:cNvSpPr txBox="1"/>
          <p:nvPr/>
        </p:nvSpPr>
        <p:spPr>
          <a:xfrm>
            <a:off x="2046256" y="4306865"/>
            <a:ext cx="8377082" cy="830997"/>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Coalition negotiation, campaign spending, candidate influence were outside the scope of the analysis</a:t>
            </a:r>
          </a:p>
        </p:txBody>
      </p:sp>
    </p:spTree>
    <p:extLst>
      <p:ext uri="{BB962C8B-B14F-4D97-AF65-F5344CB8AC3E}">
        <p14:creationId xmlns:p14="http://schemas.microsoft.com/office/powerpoint/2010/main" val="899252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B30F2522-082D-EA10-D544-BAF1E4D906B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4FD938-4590-E7B1-EBF2-972D825F5AA4}"/>
              </a:ext>
            </a:extLst>
          </p:cNvPr>
          <p:cNvSpPr txBox="1"/>
          <p:nvPr/>
        </p:nvSpPr>
        <p:spPr>
          <a:xfrm>
            <a:off x="4734518" y="2295606"/>
            <a:ext cx="2722963" cy="1754326"/>
          </a:xfrm>
          <a:prstGeom prst="rect">
            <a:avLst/>
          </a:prstGeom>
          <a:noFill/>
        </p:spPr>
        <p:txBody>
          <a:bodyPr wrap="square" rtlCol="0">
            <a:spAutoFit/>
          </a:bodyPr>
          <a:lstStyle/>
          <a:p>
            <a:r>
              <a:rPr lang="en-IN" sz="5400" b="1" dirty="0">
                <a:solidFill>
                  <a:schemeClr val="bg1">
                    <a:lumMod val="95000"/>
                  </a:schemeClr>
                </a:solidFill>
                <a:latin typeface="Avenir Next LT Pro" panose="020B0504020202020204" pitchFamily="34" charset="0"/>
              </a:rPr>
              <a:t>Thank You.</a:t>
            </a:r>
          </a:p>
        </p:txBody>
      </p:sp>
    </p:spTree>
    <p:extLst>
      <p:ext uri="{BB962C8B-B14F-4D97-AF65-F5344CB8AC3E}">
        <p14:creationId xmlns:p14="http://schemas.microsoft.com/office/powerpoint/2010/main" val="3439391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a:extLst>
            <a:ext uri="{FF2B5EF4-FFF2-40B4-BE49-F238E27FC236}">
              <a16:creationId xmlns:a16="http://schemas.microsoft.com/office/drawing/2014/main" id="{A36EFD63-A007-3D8C-A7B2-563025228A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53B081-349B-60DA-1DCC-615759DAA67F}"/>
              </a:ext>
            </a:extLst>
          </p:cNvPr>
          <p:cNvSpPr txBox="1"/>
          <p:nvPr/>
        </p:nvSpPr>
        <p:spPr>
          <a:xfrm>
            <a:off x="625576" y="1905506"/>
            <a:ext cx="10940848" cy="3046988"/>
          </a:xfrm>
          <a:prstGeom prst="rect">
            <a:avLst/>
          </a:prstGeom>
          <a:noFill/>
        </p:spPr>
        <p:txBody>
          <a:bodyPr wrap="square" rtlCol="0">
            <a:spAutoFit/>
          </a:bodyPr>
          <a:lstStyle/>
          <a:p>
            <a:r>
              <a:rPr lang="en-IN" sz="2400" b="1" dirty="0">
                <a:solidFill>
                  <a:schemeClr val="bg1">
                    <a:lumMod val="95000"/>
                  </a:schemeClr>
                </a:solidFill>
                <a:latin typeface="Avenir Next LT Pro" panose="020B0504020202020204" pitchFamily="34" charset="0"/>
              </a:rPr>
              <a:t>This presentation is intended purely as a data-oriented analytical exercise and storytelling framework based on publicly available election data, trends, and statistical interpretations. The objective is neither to support nor criticize any political party, ideology, leader, or voter group. All insights, comparisons, and visualizations are presented solely for informational, educational, and analytical purposes. Interpretations may evolve with new data, and viewers are encouraged to form their own independent opinions and conclusions</a:t>
            </a:r>
          </a:p>
        </p:txBody>
      </p:sp>
      <p:sp>
        <p:nvSpPr>
          <p:cNvPr id="3" name="TextBox 2">
            <a:extLst>
              <a:ext uri="{FF2B5EF4-FFF2-40B4-BE49-F238E27FC236}">
                <a16:creationId xmlns:a16="http://schemas.microsoft.com/office/drawing/2014/main" id="{EBEB6241-24D2-B441-679D-0E9744AC686C}"/>
              </a:ext>
            </a:extLst>
          </p:cNvPr>
          <p:cNvSpPr txBox="1"/>
          <p:nvPr/>
        </p:nvSpPr>
        <p:spPr>
          <a:xfrm>
            <a:off x="5312492" y="381019"/>
            <a:ext cx="1567016" cy="400110"/>
          </a:xfrm>
          <a:prstGeom prst="rect">
            <a:avLst/>
          </a:prstGeom>
          <a:noFill/>
        </p:spPr>
        <p:txBody>
          <a:bodyPr wrap="square">
            <a:spAutoFit/>
          </a:bodyPr>
          <a:lstStyle/>
          <a:p>
            <a:r>
              <a:rPr lang="en-US" sz="2000" b="1" dirty="0">
                <a:solidFill>
                  <a:srgbClr val="FAF9F5"/>
                </a:solidFill>
                <a:latin typeface="Avenir Next LT Pro" panose="020B0504020202020204" pitchFamily="34" charset="0"/>
              </a:rPr>
              <a:t>Disclaimer</a:t>
            </a:r>
            <a:endParaRPr lang="en-IN" sz="2000" b="1" dirty="0">
              <a:solidFill>
                <a:srgbClr val="FAF9F5"/>
              </a:solidFill>
              <a:latin typeface="Avenir Next LT Pro" panose="020B0504020202020204" pitchFamily="34" charset="0"/>
            </a:endParaRPr>
          </a:p>
        </p:txBody>
      </p:sp>
    </p:spTree>
    <p:extLst>
      <p:ext uri="{BB962C8B-B14F-4D97-AF65-F5344CB8AC3E}">
        <p14:creationId xmlns:p14="http://schemas.microsoft.com/office/powerpoint/2010/main" val="22029754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759</TotalTime>
  <Words>681</Words>
  <Application>Microsoft Office PowerPoint</Application>
  <PresentationFormat>Widescreen</PresentationFormat>
  <Paragraphs>86</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Avenir Next LT Pro</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Shafi Admin</dc:creator>
  <cp:lastModifiedBy>Shafi Admin</cp:lastModifiedBy>
  <cp:revision>15</cp:revision>
  <dcterms:created xsi:type="dcterms:W3CDTF">2026-05-26T05:49:50Z</dcterms:created>
  <dcterms:modified xsi:type="dcterms:W3CDTF">2026-06-04T07:40:20Z</dcterms:modified>
</cp:coreProperties>
</file>